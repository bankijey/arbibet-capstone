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odds board top-right: two real prices from two real books that add up to a guaranteed 3.96% return on first-half corners. That is one of exactly four true surebets this platform found in 6.9 million payloads. Tell them the deck is about how we got to a number we can trust, and everything that tried to stop us.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brisk — three numbers, one sentence each. The point is not the size, it is the direction. Market-size estimates differ by a few billion between houses; say 'roughly' and move on.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slide. Prediction markets prove that a probability is a tradeable asset. Arbibet treats bookmaker prices the same way: five independent estimates of the same event, and the gaps between them are the signal.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these five books' slide. Headline participation figures for Nigeria vary wildly by source — one widely-repeated figure exceeds the adult population — so this deck uses GeoPoll's survey rate and the revenue estimate only. If asked, say exactly that: the honest number is the surveyed one.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Land the scale, then pivot: 'and every one of those wagers is a data point somebody had to reconcile.'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project as answering two questions, and promise the answers come in Act 3: the first is 'almost never, and here are the four times it did'; the second is 'usually not, and here is the arithmetic.'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and none of this is the capstone -- it is the platform the capstone plugs into. A Go collector per book, writing bronze only when a response actually changes, which is why bronze doubles as a tick store later. The matcher decides which entries across books are the same fixture; API-Football is the record of what happened; silver knows how to settle a market. Point at ROLLING WINDOW on apifootball_events -- that is the biggest bug in the deck, and it is coming.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new. Two paths out of the same bronze: a live one through Redpanda to two detectors in their own consumer groups, and a batch one through Spark. The watcher is the freshness path added later -- same code as the consumers, MERGEd on the same key, so the two converge instead of duplicating. CORE is task-written and ANALYTICS is dbt's, so a full-refresh can never drop something a task paid an API call for. Then: 'each of the next twelve slides is one box on this chart.'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matters here and the panel will respect it. Say plainly what you inherited and what you changed. The three contributions are concrete and yours.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property of the whole platform is 'append on change, verbatim'. Everything downstream can be rebuilt from it — including the odds tick store in the capstone, which nobody planned but bronze already was.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real and read straight from the parquet metadata. Fill in the intent: was cold = older than N days? Was the goal to free Postgres, or to query with DuckDB? What stopped it — disk, time, or the capstone deadline?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repos, one slide, because together they are 'identity and truth'. The rolling-window bug is the biggest one in the deck — it comes back in Act 3. Plant it here.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deck's first green chip. Make the contrast explicit: a loud failure is a gift. The engine also insists side_or_line='home' means 'this team', not 'the home team' — which is why two teams' histories cannot always be pooled.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broker at all: the snapshot is expensive to build and TWO detectors need it, so a topic means building it once -- and a third detector later just subscribes, touching nothing upstream. Offsets are a rewind button after a bug fix. Why Redpanda: it speaks the Kafka API, so this is ordinary Kafka code that could point at managed Kafka tomorrow with one config change -- no lock-in; one binary, no ZooKeeper and no JVM, so one container instead of three; it fits in the one core and 1 GB of RAM the compose file gives it; the same broker in development as a real deployment; and free, when the whole project cost twenty cents. Say the counterpoint before they do: at this volume a queue is not strictly required, and the watcher on the next slide deliberately skips it. Kafka is here for the SHAPE -- fan-out -- not the throughput. If the panel asks why Kafka at all for a daily batch: the producer and consumers make one pass and exit, which is what lets them sit in a batch DAG — but the shape is the real-time shape, and the next slide is where it becomes real-time.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legacy system worked and it was rebuilt on request in an afternoon because every piece already existed as a tested function. Verified live: new signals landed within one poll.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Spark code in one breath. flatten.py is the ONLY real Spark job. read_payloads does a JDBC partitioned read -- eight partitions keyed on the bronze id, so eight workers pull in parallel instead of one connection dragging 505 MB. parse applies from_json with a PARTIAL schema: declare only the fields you want and Spark discards the rest, which is how nested JSONB becomes columns with no manual traversal. latest_per_fixture is a window dedup; team_statistics is an explode-then-pivot rather than a UDF, because the stat labels are known and a pivot stays in the JVM; team_rows makes the two team-rows per fixture and self-joins to attach the OPPONENT's xG. The DataFrame is cached because three branches read it -- both sides and the pivot -- and without that the 505 MB parse runs three times. settle.py is NOT Spark and its docstring says so: the input is already-flattened fact_team_match in Snowflake, and the work is a nested loop in Python over ~225 (market, side) combinations per fixture calling the vendored settle() and team_perspective(). If asked why it lives in spark/: naming it honestly matters more than a tidy folder. Windows gotcha for the panel: spark.jars.packages needs a Hadoop temp dir Windows cannot provide without winutils.exe, so Spark runs inside the Airflow image. Then --env-file .env passed the HOST's JAVA_HOME into the Linux container and the JVM never started. Both in the troubleshooting slide.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timezone one is a good teaching moment because the data was never wrong — only the rendering. Fix was three lines: pin the session to Europe/Berlin in the connector and dbt, and cast to TIMESTAMP_LTZ where it is displayed.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dbt is doing here. Everything upstream WRITES facts; dbt only ever READS them and shapes them for the dashboard. That split is enforced by schema: tasks own CORE, dbt owns ANALYTICS, and dbt has no write path into CORE at all -- so a full-refresh cannot drop a table a task paid an API call for. dbt run builds 8 models in dependency order, working out that order itself from the ref() and source() calls -- nobody maintains a list. Six staging models are VIEWS: they rename and lightly filter facts the pipeline already wrote, so a table would just be a second copy that can go stale. The two gold models are TABLES, because the dashboard reads them on every page load and a view would re-scan five million settled rows each time someone opens the URL. Last run: 8 of 8 OK, about 12 seconds. dbt test then runs 31 assertions against what was just built -- 26 generic ones declared in YAML (not_null, unique, accepted_values, and relationships for foreign keys) plus 5 singular tests, which are just SQL that must return zero rows. The generic ones catch schema drift. The singular ones are the interesting half, because every one of them was written the day a bug got past everything else: arbitrage_is_physically_plausible exists because the first run reported a 7.83x arbitrage; slip_legs_are_unique because two joins were fanning legs out; odds_are_real_prices because a book publishes 0.00 for a suspended outcome; slip_rates_are_proportions because pooling two teams' histories produced a rate above 1; gold_is_not_empty because an empty table passes every column test ever written. Order matters in the DAG: dbt_run, then dbt_test, then the LLM tasks -- the model is the one step that costs money per run, and paying for a verdict on data that failed its own tests is the wrong order. And one test taught its own lesson: a relationships test on market_base_id used to FAIL the run, but dim_market is the crosswalk and native books legitimately price outside it, so it is warn-severity now. A test encodes an assumption; if the assumption is wrong the test is too. The point to make about dbt: generic tests catch schema drift; the singular tests here each encode a bug that a plausible number got past. 'Arbitrage physically plausible' exists because the first run reported a 7.83× arbitrage.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Snowflake Cortex was the plan and would have been free; it refuses AI functions on trial accounts, verified in the console. Moving to an orchestrated OpenAI task put the LLM behind a swappable boundary. Emphasise the design rule: the model narrates numbers it did not compute.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this is the live-demo cue: open the dashboard, click a deep dive, show the price chart with the kick-off line. Otherwise the screenshot carries it.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concrete stories, both measured this week. The panel will like that the 40s → &lt;1s figure came from the watcher's own log, not a benchmark.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two questions from Act 1 here, explicitly. 72 unit tests, 30 dbt tests, ruff and mypy clean — say it once.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slide the most time. Walk two or three rows, not all seven. End on the last sentence of the chip — it is the one line you want the panel to repeat back.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on purpose — this is the slide the panel will photograph. Do not read it. Pick the one story per column you tell best (JAVA_HOME, winutils, Cortex) and let the rest sit.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acronyms out loud in full once — the brief asked for it — then give one example each. The crosswalk rebuild story is a good one because it was your correction: 'you overcomplicate things.'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protects you. Panels reward candour about AI use far more than they penalise it, and the reused/new split is exactly the README's honesty statement. Fill the monolith placeholder with the specific repo.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Snowflake figure is read from ACCOUNT_USAGE, not estimated. If asked what 9.27 credits would cost off-trial: roughly tens of dollars at list pricing for an X-Small — do not quote a rate you cannot cite.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short; the panel's questions start here. The first bullet is a genuine open bug and saying so is stronger than hiding it.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on the failures specifically — you have better answers there than anyone expects. ~0:30. Total running time with the suggested timings is about 33 minutes; trim the Nigeria or World Cup slide to 45 seconds each to land at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thebusinessresearchcompany.com/report/sports-betting-global-market-report" TargetMode="External"/><Relationship Id="rId2" Type="http://schemas.openxmlformats.org/officeDocument/2006/relationships/hyperlink" Target="https://www.precedenceresearch.com/sports-betting-market" TargetMode="External"/><Relationship Id="rId3" Type="http://schemas.openxmlformats.org/officeDocument/2006/relationships/hyperlink" Target="https://www.grandviewresearch.com/industry-analysis/sports-betting-market-report"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pewresearch.org/short-reads/2026/05/27/trading-volume-on-prediction-markets-has-soared-in-recent-months/" TargetMode="External"/><Relationship Id="rId2" Type="http://schemas.openxmlformats.org/officeDocument/2006/relationships/hyperlink" Target="https://www.trmlabs.com/resources/blog/how-prediction-markets-scaled-to-usd-21b-in-monthly-volume-in-2026" TargetMode="External"/><Relationship Id="rId3" Type="http://schemas.openxmlformats.org/officeDocument/2006/relationships/hyperlink" Target="https://www.kucoin.com/news/flash/kalshi-and-polymarket-combined-2025-trading-volume-surpasses-44-billion"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eopoll.com/blog/betting-africa-2026/" TargetMode="External"/><Relationship Id="rId2" Type="http://schemas.openxmlformats.org/officeDocument/2006/relationships/hyperlink" Target="https://nannews.ng/article/sports-betting-in-nigeria-in-2026-market-growth-and-the-new-state-level-rules/" TargetMode="External"/><Relationship Id="rId3" Type="http://schemas.openxmlformats.org/officeDocument/2006/relationships/hyperlink" Target="https://igamingafrika.com/nigeria-igaming-market-overview-1in-africa/"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cnbc.com/2026/06/10/the-world-cup-will-likely-be-the-biggest-gambling-event-in-history.html" TargetMode="External"/><Relationship Id="rId2" Type="http://schemas.openxmlformats.org/officeDocument/2006/relationships/hyperlink" Target="https://www.yogonet.com/international/news/2026/07/21/125483-us-sportsbooks-call-2026-world-cup-the-biggest-betting-event-ever-after-record-final-handle" TargetMode="External"/><Relationship Id="rId3" Type="http://schemas.openxmlformats.org/officeDocument/2006/relationships/hyperlink" Target="https://www.foxsports.com/stories/soccer/2026-world-cup-betting-recap" TargetMode="External"/><Relationship Id="rId4" Type="http://schemas.openxmlformats.org/officeDocument/2006/relationships/hyperlink" Target="https://www.casino.org/news/sports-betting-2026-world-cup-shatters-records/"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oddsjam.com/subscribe" TargetMode="External"/><Relationship Id="rId2" Type="http://schemas.openxmlformats.org/officeDocument/2006/relationships/hyperlink" Target="https://xclsvmedia.com/oddsjam-review-2026-is-this-199-month-betting-tool-worth-it/"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1:00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 / 29</a:t>
            </a:r>
            <a:endParaRPr lang="en-US" sz="800" dirty="0"/>
          </a:p>
        </p:txBody>
      </p:sp>
      <p:sp>
        <p:nvSpPr>
          <p:cNvPr id="5" name="Text 2"/>
          <p:cNvSpPr txBox="1"/>
          <p:nvPr/>
        </p:nvSpPr>
        <p:spPr>
          <a:xfrm>
            <a:off x="5760720" y="365760"/>
            <a:ext cx="2926080" cy="1005840"/>
          </a:xfrm>
          <a:prstGeom prst="rect">
            <a:avLst/>
          </a:prstGeom>
          <a:noFill/>
          <a:ln/>
        </p:spPr>
        <p:txBody>
          <a:bodyPr wrap="square" lIns="0" tIns="0" rIns="0" bIns="0" rtlCol="0" anchor="ctr"/>
          <a:lstStyle/>
          <a:p>
            <a:pPr algn="r" indent="0" marL="0">
              <a:buNone/>
            </a:pPr>
            <a:r>
              <a:rPr lang="en-US" sz="950" dirty="0">
                <a:solidFill>
                  <a:srgbClr val="6C8077"/>
                </a:solidFill>
                <a:latin typeface="Courier New" pitchFamily="34" charset="0"/>
                <a:ea typeface="Courier New" pitchFamily="34" charset="-122"/>
                <a:cs typeface="Courier New" pitchFamily="34" charset="-120"/>
              </a:rPr>
              <a:t>bet9ja   </a:t>
            </a:r>
            <a:pPr algn="r" indent="0" marL="0">
              <a:buNone/>
            </a:pPr>
            <a:r>
              <a:rPr lang="en-US" sz="950" b="1" dirty="0">
                <a:solidFill>
                  <a:srgbClr val="F2B33D"/>
                </a:solidFill>
                <a:latin typeface="Courier New" pitchFamily="34" charset="0"/>
                <a:ea typeface="Courier New" pitchFamily="34" charset="-122"/>
                <a:cs typeface="Courier New" pitchFamily="34" charset="-120"/>
              </a:rPr>
              <a:t>2.54</a:t>
            </a:r>
            <a:pPr algn="r" indent="0" marL="0">
              <a:buNone/>
            </a:pPr>
            <a:endParaRPr lang="en-US" sz="950" dirty="0"/>
          </a:p>
          <a:p>
            <a:pPr algn="r" indent="0" marL="0">
              <a:buNone/>
            </a:pPr>
            <a:r>
              <a:rPr lang="en-US" sz="950" dirty="0">
                <a:solidFill>
                  <a:srgbClr val="6C8077"/>
                </a:solidFill>
                <a:latin typeface="Courier New" pitchFamily="34" charset="0"/>
                <a:ea typeface="Courier New" pitchFamily="34" charset="-122"/>
                <a:cs typeface="Courier New" pitchFamily="34" charset="-120"/>
              </a:rPr>
              <a:t>sportybet   </a:t>
            </a:r>
            <a:endParaRPr lang="en-US" sz="950" dirty="0"/>
          </a:p>
          <a:p>
            <a:pPr algn="r" indent="0" marL="0">
              <a:buNone/>
            </a:pPr>
            <a:r>
              <a:rPr lang="en-US" sz="950" b="1" dirty="0">
                <a:solidFill>
                  <a:srgbClr val="F2B33D"/>
                </a:solidFill>
                <a:latin typeface="Courier New" pitchFamily="34" charset="0"/>
                <a:ea typeface="Courier New" pitchFamily="34" charset="-122"/>
                <a:cs typeface="Courier New" pitchFamily="34" charset="-120"/>
              </a:rPr>
              <a:t>1.76</a:t>
            </a:r>
            <a:pPr algn="r" indent="0" marL="0">
              <a:buNone/>
            </a:pPr>
            <a:endParaRPr lang="en-US" sz="950" dirty="0"/>
          </a:p>
          <a:p>
            <a:pPr algn="r" indent="0" marL="0">
              <a:buNone/>
            </a:pPr>
            <a:r>
              <a:rPr lang="en-US" sz="950" dirty="0">
                <a:solidFill>
                  <a:srgbClr val="6C8077"/>
                </a:solidFill>
                <a:latin typeface="Courier New" pitchFamily="34" charset="0"/>
                <a:ea typeface="Courier New" pitchFamily="34" charset="-122"/>
                <a:cs typeface="Courier New" pitchFamily="34" charset="-120"/>
              </a:rPr>
              <a:t>1st half corners o/u 5.5</a:t>
            </a:r>
            <a:endParaRPr lang="en-US" sz="950" dirty="0"/>
          </a:p>
          <a:p>
            <a:pPr algn="r" indent="0" marL="0">
              <a:buNone/>
            </a:pPr>
            <a:r>
              <a:rPr lang="en-US" sz="950" dirty="0">
                <a:solidFill>
                  <a:srgbClr val="6C8077"/>
                </a:solidFill>
                <a:latin typeface="Courier New" pitchFamily="34" charset="0"/>
                <a:ea typeface="Courier New" pitchFamily="34" charset="-122"/>
                <a:cs typeface="Courier New" pitchFamily="34" charset="-120"/>
              </a:rPr>
              <a:t>arbitrage </a:t>
            </a:r>
            <a:endParaRPr lang="en-US" sz="950" dirty="0"/>
          </a:p>
          <a:p>
            <a:pPr algn="r" indent="0" marL="0">
              <a:buNone/>
            </a:pPr>
            <a:r>
              <a:rPr lang="en-US" sz="950" b="1" dirty="0">
                <a:solidFill>
                  <a:srgbClr val="F2B33D"/>
                </a:solidFill>
                <a:latin typeface="Courier New" pitchFamily="34" charset="0"/>
                <a:ea typeface="Courier New" pitchFamily="34" charset="-122"/>
                <a:cs typeface="Courier New" pitchFamily="34" charset="-120"/>
              </a:rPr>
              <a:t>1.0396</a:t>
            </a:r>
            <a:endParaRPr lang="en-US" sz="950" dirty="0"/>
          </a:p>
        </p:txBody>
      </p:sp>
      <p:sp>
        <p:nvSpPr>
          <p:cNvPr id="6" name="Text 3"/>
          <p:cNvSpPr txBox="1"/>
          <p:nvPr/>
        </p:nvSpPr>
        <p:spPr>
          <a:xfrm>
            <a:off x="457200" y="1417320"/>
            <a:ext cx="7315200" cy="274320"/>
          </a:xfrm>
          <a:prstGeom prst="rect">
            <a:avLst/>
          </a:prstGeom>
          <a:noFill/>
          <a:ln/>
        </p:spPr>
        <p:txBody>
          <a:bodyPr wrap="square" lIns="0" tIns="0" rIns="0" bIns="0" rtlCol="0" anchor="ctr"/>
          <a:lstStyle/>
          <a:p>
            <a:pPr indent="0" marL="0">
              <a:buNone/>
            </a:pPr>
            <a:r>
              <a:rPr lang="en-US" sz="1100" spc="100" kern="0" dirty="0">
                <a:solidFill>
                  <a:srgbClr val="9DB0A6"/>
                </a:solidFill>
                <a:latin typeface="Courier New" pitchFamily="34" charset="0"/>
                <a:ea typeface="Courier New" pitchFamily="34" charset="-122"/>
                <a:cs typeface="Courier New" pitchFamily="34" charset="-120"/>
              </a:rPr>
              <a:t>Arbibet — a cross-bookmaker data platform</a:t>
            </a:r>
            <a:endParaRPr lang="en-US" sz="1100" dirty="0"/>
          </a:p>
        </p:txBody>
      </p:sp>
      <p:sp>
        <p:nvSpPr>
          <p:cNvPr id="7" name="Text 4"/>
          <p:cNvSpPr txBox="1"/>
          <p:nvPr/>
        </p:nvSpPr>
        <p:spPr>
          <a:xfrm>
            <a:off x="457200" y="1737360"/>
            <a:ext cx="8229600" cy="1554480"/>
          </a:xfrm>
          <a:prstGeom prst="rect">
            <a:avLst/>
          </a:prstGeom>
          <a:noFill/>
          <a:ln/>
        </p:spPr>
        <p:txBody>
          <a:bodyPr wrap="square" lIns="0" tIns="0" rIns="0" bIns="0" rtlCol="0" anchor="t"/>
          <a:lstStyle/>
          <a:p>
            <a:pPr indent="0" marL="0">
              <a:buNone/>
            </a:pPr>
            <a:r>
              <a:rPr lang="en-US" sz="6000" b="1" dirty="0">
                <a:solidFill>
                  <a:srgbClr val="EEF3EE"/>
                </a:solidFill>
                <a:latin typeface="Barlow Condensed" pitchFamily="34" charset="0"/>
                <a:ea typeface="Barlow Condensed" pitchFamily="34" charset="-122"/>
                <a:cs typeface="Barlow Condensed" pitchFamily="34" charset="-120"/>
              </a:rPr>
              <a:t>FIVE BOOKS.</a:t>
            </a:r>
            <a:endParaRPr lang="en-US" sz="6000" dirty="0"/>
          </a:p>
          <a:p>
            <a:pPr indent="0" marL="0">
              <a:buNone/>
            </a:pPr>
            <a:r>
              <a:rPr lang="en-US" sz="6000" b="1" dirty="0">
                <a:solidFill>
                  <a:srgbClr val="EEF3EE"/>
                </a:solidFill>
                <a:latin typeface="Barlow Condensed" pitchFamily="34" charset="0"/>
                <a:ea typeface="Barlow Condensed" pitchFamily="34" charset="-122"/>
                <a:cs typeface="Barlow Condensed" pitchFamily="34" charset="-120"/>
              </a:rPr>
              <a:t>ONE HONEST NUMBER.</a:t>
            </a:r>
            <a:endParaRPr lang="en-US" sz="6000" dirty="0"/>
          </a:p>
        </p:txBody>
      </p:sp>
      <p:sp>
        <p:nvSpPr>
          <p:cNvPr id="8" name="Text 5"/>
          <p:cNvSpPr txBox="1"/>
          <p:nvPr/>
        </p:nvSpPr>
        <p:spPr>
          <a:xfrm>
            <a:off x="457200" y="3337560"/>
            <a:ext cx="5669280" cy="640080"/>
          </a:xfrm>
          <a:prstGeom prst="rect">
            <a:avLst/>
          </a:prstGeom>
          <a:noFill/>
          <a:ln/>
        </p:spPr>
        <p:txBody>
          <a:bodyPr wrap="square" lIns="0" tIns="0" rIns="0" bIns="0" rtlCol="0" anchor="t"/>
          <a:lstStyle/>
          <a:p>
            <a:pPr indent="0" marL="0">
              <a:buNone/>
            </a:pPr>
            <a:r>
              <a:rPr lang="en-US" sz="1400" dirty="0">
                <a:solidFill>
                  <a:srgbClr val="EEF3EE"/>
                </a:solidFill>
                <a:latin typeface="Arial" pitchFamily="34" charset="0"/>
                <a:ea typeface="Arial" pitchFamily="34" charset="-122"/>
                <a:cs typeface="Arial" pitchFamily="34" charset="-120"/>
              </a:rPr>
              <a:t>From a Go odds collector to a Snowflake warehouse and a Streamlit dashboard — and what went silently wrong on the way.</a:t>
            </a:r>
            <a:endParaRPr lang="en-US" sz="1400" dirty="0"/>
          </a:p>
        </p:txBody>
      </p:sp>
      <p:sp>
        <p:nvSpPr>
          <p:cNvPr id="9" name="Shape 6"/>
          <p:cNvSpPr/>
          <p:nvPr/>
        </p:nvSpPr>
        <p:spPr>
          <a:xfrm>
            <a:off x="457200" y="4114800"/>
            <a:ext cx="2011680" cy="329184"/>
          </a:xfrm>
          <a:prstGeom prst="roundRect">
            <a:avLst>
              <a:gd name="adj" fmla="val 11111"/>
            </a:avLst>
          </a:prstGeom>
          <a:solidFill>
            <a:srgbClr val="0E1A16"/>
          </a:solidFill>
          <a:ln w="12700">
            <a:solidFill>
              <a:srgbClr val="F2B33D"/>
            </a:solidFill>
            <a:prstDash val="dash"/>
          </a:ln>
        </p:spPr>
      </p:sp>
      <p:sp>
        <p:nvSpPr>
          <p:cNvPr id="10" name="Text 7"/>
          <p:cNvSpPr txBox="1"/>
          <p:nvPr/>
        </p:nvSpPr>
        <p:spPr>
          <a:xfrm>
            <a:off x="548640" y="4114800"/>
            <a:ext cx="1828800" cy="329184"/>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[YOUR NAME]</a:t>
            </a:r>
            <a:endParaRPr lang="en-US" sz="850" dirty="0"/>
          </a:p>
        </p:txBody>
      </p:sp>
      <p:sp>
        <p:nvSpPr>
          <p:cNvPr id="11" name="Shape 8"/>
          <p:cNvSpPr/>
          <p:nvPr/>
        </p:nvSpPr>
        <p:spPr>
          <a:xfrm>
            <a:off x="2606040" y="4114800"/>
            <a:ext cx="2377440" cy="329184"/>
          </a:xfrm>
          <a:prstGeom prst="roundRect">
            <a:avLst>
              <a:gd name="adj" fmla="val 11111"/>
            </a:avLst>
          </a:prstGeom>
          <a:solidFill>
            <a:srgbClr val="0E1A16"/>
          </a:solidFill>
          <a:ln w="12700">
            <a:solidFill>
              <a:srgbClr val="F2B33D"/>
            </a:solidFill>
            <a:prstDash val="dash"/>
          </a:ln>
        </p:spPr>
      </p:sp>
      <p:sp>
        <p:nvSpPr>
          <p:cNvPr id="12" name="Text 9"/>
          <p:cNvSpPr txBox="1"/>
          <p:nvPr/>
        </p:nvSpPr>
        <p:spPr>
          <a:xfrm>
            <a:off x="2697480" y="4114800"/>
            <a:ext cx="2194560" cy="329184"/>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[IRONHACK DE COHORT]</a:t>
            </a:r>
            <a:endParaRPr lang="en-US" sz="850" dirty="0"/>
          </a:p>
        </p:txBody>
      </p:sp>
      <p:sp>
        <p:nvSpPr>
          <p:cNvPr id="13" name="Shape 10"/>
          <p:cNvSpPr/>
          <p:nvPr/>
        </p:nvSpPr>
        <p:spPr>
          <a:xfrm>
            <a:off x="5120640" y="4114800"/>
            <a:ext cx="1280160" cy="329184"/>
          </a:xfrm>
          <a:prstGeom prst="roundRect">
            <a:avLst>
              <a:gd name="adj" fmla="val 11111"/>
            </a:avLst>
          </a:prstGeom>
          <a:solidFill>
            <a:srgbClr val="0E1A16"/>
          </a:solidFill>
          <a:ln w="12700">
            <a:solidFill>
              <a:srgbClr val="F2B33D"/>
            </a:solidFill>
            <a:prstDash val="dash"/>
          </a:ln>
        </p:spPr>
      </p:sp>
      <p:sp>
        <p:nvSpPr>
          <p:cNvPr id="14" name="Text 11"/>
          <p:cNvSpPr txBox="1"/>
          <p:nvPr/>
        </p:nvSpPr>
        <p:spPr>
          <a:xfrm>
            <a:off x="5212080" y="4114800"/>
            <a:ext cx="1097280" cy="329184"/>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[DATE]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WHY THIS, WHY NOW</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WORLD IS BETTING</a:t>
            </a:r>
            <a:endParaRPr lang="en-US" sz="3400" dirty="0"/>
          </a:p>
        </p:txBody>
      </p:sp>
      <p:sp>
        <p:nvSpPr>
          <p:cNvPr id="7" name="Shape 4"/>
          <p:cNvSpPr/>
          <p:nvPr/>
        </p:nvSpPr>
        <p:spPr>
          <a:xfrm>
            <a:off x="457200" y="1417320"/>
            <a:ext cx="2606040" cy="1828800"/>
          </a:xfrm>
          <a:prstGeom prst="roundRect">
            <a:avLst>
              <a:gd name="adj" fmla="val 3000"/>
            </a:avLst>
          </a:prstGeom>
          <a:solidFill>
            <a:srgbClr val="16241F"/>
          </a:solidFill>
          <a:ln w="9525">
            <a:solidFill>
              <a:srgbClr val="2A3D34"/>
            </a:solidFill>
            <a:prstDash val="solid"/>
          </a:ln>
        </p:spPr>
      </p:sp>
      <p:sp>
        <p:nvSpPr>
          <p:cNvPr id="8" name="Text 5"/>
          <p:cNvSpPr txBox="1"/>
          <p:nvPr/>
        </p:nvSpPr>
        <p:spPr>
          <a:xfrm>
            <a:off x="64008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$125B</a:t>
            </a:r>
            <a:endParaRPr lang="en-US" sz="4000" dirty="0"/>
          </a:p>
        </p:txBody>
      </p:sp>
      <p:sp>
        <p:nvSpPr>
          <p:cNvPr id="9" name="Text 6"/>
          <p:cNvSpPr txBox="1"/>
          <p:nvPr/>
        </p:nvSpPr>
        <p:spPr>
          <a:xfrm>
            <a:off x="64008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global sports betting market, 2026 — up from $119B in 2025</a:t>
            </a:r>
            <a:endParaRPr lang="en-US" sz="1050" dirty="0"/>
          </a:p>
        </p:txBody>
      </p:sp>
      <p:sp>
        <p:nvSpPr>
          <p:cNvPr id="10" name="Shape 7"/>
          <p:cNvSpPr/>
          <p:nvPr/>
        </p:nvSpPr>
        <p:spPr>
          <a:xfrm>
            <a:off x="3246120" y="1417320"/>
            <a:ext cx="2606040" cy="1828800"/>
          </a:xfrm>
          <a:prstGeom prst="roundRect">
            <a:avLst>
              <a:gd name="adj" fmla="val 3000"/>
            </a:avLst>
          </a:prstGeom>
          <a:solidFill>
            <a:srgbClr val="16241F"/>
          </a:solidFill>
          <a:ln w="9525">
            <a:solidFill>
              <a:srgbClr val="2A3D34"/>
            </a:solidFill>
            <a:prstDash val="solid"/>
          </a:ln>
        </p:spPr>
      </p:sp>
      <p:sp>
        <p:nvSpPr>
          <p:cNvPr id="11" name="Text 8"/>
          <p:cNvSpPr txBox="1"/>
          <p:nvPr/>
        </p:nvSpPr>
        <p:spPr>
          <a:xfrm>
            <a:off x="342900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44%</a:t>
            </a:r>
            <a:endParaRPr lang="en-US" sz="4000" dirty="0"/>
          </a:p>
        </p:txBody>
      </p:sp>
      <p:sp>
        <p:nvSpPr>
          <p:cNvPr id="12" name="Text 9"/>
          <p:cNvSpPr txBox="1"/>
          <p:nvPr/>
        </p:nvSpPr>
        <p:spPr>
          <a:xfrm>
            <a:off x="342900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of that market is Europe; North America is the fastest-growing region</a:t>
            </a:r>
            <a:endParaRPr lang="en-US" sz="1050" dirty="0"/>
          </a:p>
        </p:txBody>
      </p:sp>
      <p:sp>
        <p:nvSpPr>
          <p:cNvPr id="13" name="Shape 10"/>
          <p:cNvSpPr/>
          <p:nvPr/>
        </p:nvSpPr>
        <p:spPr>
          <a:xfrm>
            <a:off x="6035040" y="1417320"/>
            <a:ext cx="2606040" cy="1828800"/>
          </a:xfrm>
          <a:prstGeom prst="roundRect">
            <a:avLst>
              <a:gd name="adj" fmla="val 3000"/>
            </a:avLst>
          </a:prstGeom>
          <a:solidFill>
            <a:srgbClr val="16241F"/>
          </a:solidFill>
          <a:ln w="9525">
            <a:solidFill>
              <a:srgbClr val="2A3D34"/>
            </a:solidFill>
            <a:prstDash val="solid"/>
          </a:ln>
        </p:spPr>
      </p:sp>
      <p:sp>
        <p:nvSpPr>
          <p:cNvPr id="14" name="Text 11"/>
          <p:cNvSpPr txBox="1"/>
          <p:nvPr/>
        </p:nvSpPr>
        <p:spPr>
          <a:xfrm>
            <a:off x="621792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$326B</a:t>
            </a:r>
            <a:endParaRPr lang="en-US" sz="4000" dirty="0"/>
          </a:p>
        </p:txBody>
      </p:sp>
      <p:sp>
        <p:nvSpPr>
          <p:cNvPr id="15" name="Text 12"/>
          <p:cNvSpPr txBox="1"/>
          <p:nvPr/>
        </p:nvSpPr>
        <p:spPr>
          <a:xfrm>
            <a:off x="621792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projected by 2035 — an 11% compound growth rate from 2026</a:t>
            </a:r>
            <a:endParaRPr lang="en-US" sz="1050" dirty="0"/>
          </a:p>
        </p:txBody>
      </p:sp>
      <p:sp>
        <p:nvSpPr>
          <p:cNvPr id="16" name="Text 13"/>
          <p:cNvSpPr txBox="1"/>
          <p:nvPr/>
        </p:nvSpPr>
        <p:spPr>
          <a:xfrm>
            <a:off x="457200" y="3429000"/>
            <a:ext cx="8229600" cy="640080"/>
          </a:xfrm>
          <a:prstGeom prst="rect">
            <a:avLst/>
          </a:prstGeom>
          <a:noFill/>
          <a:ln/>
        </p:spPr>
        <p:txBody>
          <a:bodyPr wrap="square" lIns="0" tIns="0" rIns="0" bIns="0" rtlCol="0" anchor="t"/>
          <a:lstStyle/>
          <a:p>
            <a:pPr indent="0" marL="0">
              <a:buNone/>
            </a:pPr>
            <a:r>
              <a:rPr lang="en-US" sz="1150" dirty="0">
                <a:solidFill>
                  <a:srgbClr val="9DB0A6"/>
                </a:solidFill>
                <a:latin typeface="Arial" pitchFamily="34" charset="0"/>
                <a:ea typeface="Arial" pitchFamily="34" charset="-122"/>
                <a:cs typeface="Arial" pitchFamily="34" charset="-120"/>
              </a:rPr>
              <a:t>Legalisation, smartphones and digital payments are the drivers cited across every report — the same three things that make Nigeria the case study two slides on.</a:t>
            </a:r>
            <a:endParaRPr lang="en-US" sz="1150" dirty="0"/>
          </a:p>
        </p:txBody>
      </p:sp>
      <p:sp>
        <p:nvSpPr>
          <p:cNvPr id="17" name="Text 14"/>
          <p:cNvSpPr txBox="1"/>
          <p:nvPr/>
        </p:nvSpPr>
        <p:spPr>
          <a:xfrm>
            <a:off x="457200" y="4389120"/>
            <a:ext cx="8229600" cy="347472"/>
          </a:xfrm>
          <a:prstGeom prst="rect">
            <a:avLst/>
          </a:prstGeom>
          <a:noFill/>
          <a:ln/>
        </p:spPr>
        <p:txBody>
          <a:bodyPr wrap="square" lIns="0" tIns="0" rIns="0" bIns="0" rtlCol="0" anchor="t"/>
          <a:lstStyle/>
          <a:p>
            <a:pPr indent="0" marL="0">
              <a:buNone/>
            </a:pPr>
            <a:r>
              <a:rPr lang="en-US" sz="750" dirty="0">
                <a:solidFill>
                  <a:srgbClr val="6C8077"/>
                </a:solidFill>
                <a:latin typeface="Arial" pitchFamily="34" charset="0"/>
                <a:ea typeface="Arial" pitchFamily="34" charset="-122"/>
                <a:cs typeface="Arial" pitchFamily="34" charset="-120"/>
              </a:rPr>
              <a:t>Sources: </a:t>
            </a:r>
            <a:pPr indent="0" marL="0">
              <a:buNone/>
            </a:pPr>
            <a:r>
              <a:rPr lang="en-US" sz="750" u="sng" dirty="0">
                <a:solidFill>
                  <a:srgbClr val="6C80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Business Research Company, Sports Betting Global Market Report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Precedence Research, to 2035</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Grand View Research</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3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WHY THIS, WHY NOW</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ODDS BECAME A MARKET OF THEIR OWN</a:t>
            </a:r>
            <a:endParaRPr lang="en-US" sz="3400" dirty="0"/>
          </a:p>
        </p:txBody>
      </p:sp>
      <p:sp>
        <p:nvSpPr>
          <p:cNvPr id="7" name="Shape 4"/>
          <p:cNvSpPr/>
          <p:nvPr/>
        </p:nvSpPr>
        <p:spPr>
          <a:xfrm>
            <a:off x="457200" y="1417320"/>
            <a:ext cx="5029200" cy="2788920"/>
          </a:xfrm>
          <a:prstGeom prst="roundRect">
            <a:avLst>
              <a:gd name="adj" fmla="val 1967"/>
            </a:avLst>
          </a:prstGeom>
          <a:solidFill>
            <a:srgbClr val="16241F"/>
          </a:solidFill>
          <a:ln w="9525">
            <a:solidFill>
              <a:srgbClr val="2A3D34"/>
            </a:solidFill>
            <a:prstDash val="solid"/>
          </a:ln>
        </p:spPr>
      </p:sp>
      <p:sp>
        <p:nvSpPr>
          <p:cNvPr id="8" name="Text 5"/>
          <p:cNvSpPr txBox="1"/>
          <p:nvPr/>
        </p:nvSpPr>
        <p:spPr>
          <a:xfrm>
            <a:off x="640080" y="1508760"/>
            <a:ext cx="4663440" cy="822960"/>
          </a:xfrm>
          <a:prstGeom prst="rect">
            <a:avLst/>
          </a:prstGeom>
          <a:noFill/>
          <a:ln/>
        </p:spPr>
        <p:txBody>
          <a:bodyPr wrap="square" lIns="0" tIns="0" rIns="0" bIns="0" rtlCol="0" anchor="ctr"/>
          <a:lstStyle/>
          <a:p>
            <a:pPr indent="0" marL="0">
              <a:buNone/>
            </a:pPr>
            <a:r>
              <a:rPr lang="en-US" sz="4400" b="1" dirty="0">
                <a:solidFill>
                  <a:srgbClr val="F2B33D"/>
                </a:solidFill>
                <a:latin typeface="Barlow Condensed" pitchFamily="34" charset="0"/>
                <a:ea typeface="Barlow Condensed" pitchFamily="34" charset="-122"/>
                <a:cs typeface="Barlow Condensed" pitchFamily="34" charset="-120"/>
              </a:rPr>
              <a:t>$44.8B</a:t>
            </a:r>
            <a:endParaRPr lang="en-US" sz="4400" dirty="0"/>
          </a:p>
        </p:txBody>
      </p:sp>
      <p:sp>
        <p:nvSpPr>
          <p:cNvPr id="9" name="Text 6"/>
          <p:cNvSpPr txBox="1"/>
          <p:nvPr/>
        </p:nvSpPr>
        <p:spPr>
          <a:xfrm>
            <a:off x="640080" y="2331720"/>
            <a:ext cx="4663440" cy="36576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combined monthly volume on Kalshi + Polymarket, June 2026</a:t>
            </a:r>
            <a:endParaRPr lang="en-US" sz="1050" dirty="0"/>
          </a:p>
        </p:txBody>
      </p:sp>
      <p:sp>
        <p:nvSpPr>
          <p:cNvPr id="10" name="Text 7"/>
          <p:cNvSpPr txBox="1"/>
          <p:nvPr/>
        </p:nvSpPr>
        <p:spPr>
          <a:xfrm>
            <a:off x="640080" y="2743200"/>
            <a:ext cx="4663440" cy="1280160"/>
          </a:xfrm>
          <a:prstGeom prst="rect">
            <a:avLst/>
          </a:prstGeom>
          <a:noFill/>
          <a:ln/>
        </p:spPr>
        <p:txBody>
          <a:bodyPr wrap="square" lIns="0" tIns="0" rIns="0" bIns="0" rtlCol="0" anchor="t"/>
          <a:lstStyle/>
          <a:p>
            <a:pPr indent="0" marL="0">
              <a:buNone/>
            </a:pPr>
            <a:r>
              <a:rPr lang="en-US" sz="1150" dirty="0">
                <a:solidFill>
                  <a:srgbClr val="EEF3EE"/>
                </a:solidFill>
                <a:latin typeface="Arial" pitchFamily="34" charset="0"/>
                <a:ea typeface="Arial" pitchFamily="34" charset="-122"/>
                <a:cs typeface="Arial" pitchFamily="34" charset="-120"/>
              </a:rPr>
              <a:t>That is more than </a:t>
            </a:r>
            <a:pPr indent="0" marL="0">
              <a:buNone/>
            </a:pPr>
            <a:r>
              <a:rPr lang="en-US" sz="1150" b="1" dirty="0">
                <a:solidFill>
                  <a:srgbClr val="F2B33D"/>
                </a:solidFill>
                <a:latin typeface="Arial" pitchFamily="34" charset="0"/>
                <a:ea typeface="Arial" pitchFamily="34" charset="-122"/>
                <a:cs typeface="Arial" pitchFamily="34" charset="-120"/>
              </a:rPr>
              <a:t>triple</a:t>
            </a:r>
            <a:pPr indent="0" marL="0">
              <a:buNone/>
            </a:pPr>
            <a:r>
              <a:rPr lang="en-US" sz="1150" dirty="0">
                <a:solidFill>
                  <a:srgbClr val="EEF3EE"/>
                </a:solidFill>
                <a:latin typeface="Arial" pitchFamily="34" charset="0"/>
                <a:ea typeface="Arial" pitchFamily="34" charset="-122"/>
                <a:cs typeface="Arial" pitchFamily="34" charset="-120"/>
              </a:rPr>
              <a:t> the ~$14B average </a:t>
            </a:r>
            <a:pPr indent="0" marL="0">
              <a:buNone/>
            </a:pPr>
            <a:r>
              <a:rPr lang="en-US" sz="1150" i="1" dirty="0">
                <a:solidFill>
                  <a:srgbClr val="EEF3EE"/>
                </a:solidFill>
                <a:latin typeface="Arial" pitchFamily="34" charset="0"/>
                <a:ea typeface="Arial" pitchFamily="34" charset="-122"/>
                <a:cs typeface="Arial" pitchFamily="34" charset="-120"/>
              </a:rPr>
              <a:t>monthly</a:t>
            </a:r>
            <a:pPr indent="0" marL="0">
              <a:buNone/>
            </a:pPr>
            <a:r>
              <a:rPr lang="en-US" sz="1150" dirty="0">
                <a:solidFill>
                  <a:srgbClr val="EEF3EE"/>
                </a:solidFill>
                <a:latin typeface="Arial" pitchFamily="34" charset="0"/>
                <a:ea typeface="Arial" pitchFamily="34" charset="-122"/>
                <a:cs typeface="Arial" pitchFamily="34" charset="-120"/>
              </a:rPr>
              <a:t> handle of every legal US sportsbook in 2025. Nine months earlier it was under $5B a month.</a:t>
            </a:r>
            <a:endParaRPr lang="en-US" sz="1150" dirty="0"/>
          </a:p>
        </p:txBody>
      </p:sp>
      <p:sp>
        <p:nvSpPr>
          <p:cNvPr id="11" name="Shape 8"/>
          <p:cNvSpPr/>
          <p:nvPr/>
        </p:nvSpPr>
        <p:spPr>
          <a:xfrm>
            <a:off x="5715000" y="1417320"/>
            <a:ext cx="2971800" cy="2788920"/>
          </a:xfrm>
          <a:prstGeom prst="roundRect">
            <a:avLst>
              <a:gd name="adj" fmla="val 1967"/>
            </a:avLst>
          </a:prstGeom>
          <a:solidFill>
            <a:srgbClr val="16241F"/>
          </a:solidFill>
          <a:ln w="9525">
            <a:solidFill>
              <a:srgbClr val="2A3D34"/>
            </a:solidFill>
            <a:prstDash val="solid"/>
          </a:ln>
        </p:spPr>
      </p:sp>
      <p:sp>
        <p:nvSpPr>
          <p:cNvPr id="12" name="Text 9"/>
          <p:cNvSpPr txBox="1"/>
          <p:nvPr/>
        </p:nvSpPr>
        <p:spPr>
          <a:xfrm>
            <a:off x="5897880" y="1527048"/>
            <a:ext cx="26517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THAT MEANS FOR US</a:t>
            </a:r>
            <a:endParaRPr lang="en-US" sz="1400" dirty="0"/>
          </a:p>
        </p:txBody>
      </p:sp>
      <p:sp>
        <p:nvSpPr>
          <p:cNvPr id="13" name="Text 10"/>
          <p:cNvSpPr txBox="1"/>
          <p:nvPr/>
        </p:nvSpPr>
        <p:spPr>
          <a:xfrm>
            <a:off x="5897880" y="1828800"/>
            <a:ext cx="2651760" cy="2286000"/>
          </a:xfrm>
          <a:prstGeom prst="rect">
            <a:avLst/>
          </a:prstGeom>
          <a:noFill/>
          <a:ln/>
        </p:spPr>
        <p:txBody>
          <a:bodyPr wrap="square" lIns="254" tIns="254" rIns="254" bIns="254" rtlCol="0" anchor="t"/>
          <a:lstStyle/>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A price on an outcome is now a traded, public number.</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Disagreement between prices is the product — not a bug.</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Whoever reconciles prices fastest and most honestly wins.</a:t>
            </a:r>
            <a:endParaRPr lang="en-US" sz="1050" dirty="0"/>
          </a:p>
        </p:txBody>
      </p:sp>
      <p:sp>
        <p:nvSpPr>
          <p:cNvPr id="14" name="Text 11"/>
          <p:cNvSpPr txBox="1"/>
          <p:nvPr/>
        </p:nvSpPr>
        <p:spPr>
          <a:xfrm>
            <a:off x="457200" y="4389120"/>
            <a:ext cx="8229600" cy="347472"/>
          </a:xfrm>
          <a:prstGeom prst="rect">
            <a:avLst/>
          </a:prstGeom>
          <a:noFill/>
          <a:ln/>
        </p:spPr>
        <p:txBody>
          <a:bodyPr wrap="square" lIns="0" tIns="0" rIns="0" bIns="0" rtlCol="0" anchor="t"/>
          <a:lstStyle/>
          <a:p>
            <a:pPr indent="0" marL="0">
              <a:buNone/>
            </a:pPr>
            <a:r>
              <a:rPr lang="en-US" sz="750" dirty="0">
                <a:solidFill>
                  <a:srgbClr val="6C8077"/>
                </a:solidFill>
                <a:latin typeface="Arial" pitchFamily="34" charset="0"/>
                <a:ea typeface="Arial" pitchFamily="34" charset="-122"/>
                <a:cs typeface="Arial" pitchFamily="34" charset="-120"/>
              </a:rPr>
              <a:t>Sources: </a:t>
            </a:r>
            <a:pPr indent="0" marL="0">
              <a:buNone/>
            </a:pPr>
            <a:r>
              <a:rPr lang="en-US" sz="750" u="sng" dirty="0">
                <a:solidFill>
                  <a:srgbClr val="6C80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Pew Research Center, May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TRM Labs,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KuCoin: combined 2025 volume &gt; $44B</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4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WHY THIS, WHY NOW</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NIGERIA: A FOOTBALL-BETTING NATION</a:t>
            </a:r>
            <a:endParaRPr lang="en-US" sz="3400" dirty="0"/>
          </a:p>
        </p:txBody>
      </p:sp>
      <p:sp>
        <p:nvSpPr>
          <p:cNvPr id="7" name="Shape 4"/>
          <p:cNvSpPr/>
          <p:nvPr/>
        </p:nvSpPr>
        <p:spPr>
          <a:xfrm>
            <a:off x="457200" y="1417320"/>
            <a:ext cx="2606040" cy="1828800"/>
          </a:xfrm>
          <a:prstGeom prst="roundRect">
            <a:avLst>
              <a:gd name="adj" fmla="val 3000"/>
            </a:avLst>
          </a:prstGeom>
          <a:solidFill>
            <a:srgbClr val="16241F"/>
          </a:solidFill>
          <a:ln w="9525">
            <a:solidFill>
              <a:srgbClr val="2A3D34"/>
            </a:solidFill>
            <a:prstDash val="solid"/>
          </a:ln>
        </p:spPr>
      </p:sp>
      <p:sp>
        <p:nvSpPr>
          <p:cNvPr id="8" name="Text 5"/>
          <p:cNvSpPr txBox="1"/>
          <p:nvPr/>
        </p:nvSpPr>
        <p:spPr>
          <a:xfrm>
            <a:off x="64008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54%</a:t>
            </a:r>
            <a:endParaRPr lang="en-US" sz="4000" dirty="0"/>
          </a:p>
        </p:txBody>
      </p:sp>
      <p:sp>
        <p:nvSpPr>
          <p:cNvPr id="9" name="Text 6"/>
          <p:cNvSpPr txBox="1"/>
          <p:nvPr/>
        </p:nvSpPr>
        <p:spPr>
          <a:xfrm>
            <a:off x="64008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of Nigerians surveyed placed a bet in the past 12 months (GeoPoll, July 2026)</a:t>
            </a:r>
            <a:endParaRPr lang="en-US" sz="1050" dirty="0"/>
          </a:p>
        </p:txBody>
      </p:sp>
      <p:sp>
        <p:nvSpPr>
          <p:cNvPr id="10" name="Shape 7"/>
          <p:cNvSpPr/>
          <p:nvPr/>
        </p:nvSpPr>
        <p:spPr>
          <a:xfrm>
            <a:off x="3246120" y="1417320"/>
            <a:ext cx="2606040" cy="1828800"/>
          </a:xfrm>
          <a:prstGeom prst="roundRect">
            <a:avLst>
              <a:gd name="adj" fmla="val 3000"/>
            </a:avLst>
          </a:prstGeom>
          <a:solidFill>
            <a:srgbClr val="16241F"/>
          </a:solidFill>
          <a:ln w="9525">
            <a:solidFill>
              <a:srgbClr val="2A3D34"/>
            </a:solidFill>
            <a:prstDash val="solid"/>
          </a:ln>
        </p:spPr>
      </p:sp>
      <p:sp>
        <p:nvSpPr>
          <p:cNvPr id="11" name="Text 8"/>
          <p:cNvSpPr txBox="1"/>
          <p:nvPr/>
        </p:nvSpPr>
        <p:spPr>
          <a:xfrm>
            <a:off x="3429000" y="1527048"/>
            <a:ext cx="2240280" cy="777240"/>
          </a:xfrm>
          <a:prstGeom prst="rect">
            <a:avLst/>
          </a:prstGeom>
          <a:noFill/>
          <a:ln/>
        </p:spPr>
        <p:txBody>
          <a:bodyPr wrap="square" lIns="0" tIns="0" rIns="0" bIns="0" rtlCol="0" anchor="ctr"/>
          <a:lstStyle/>
          <a:p>
            <a:pPr indent="0" marL="0">
              <a:buNone/>
            </a:pPr>
            <a:r>
              <a:rPr lang="en-US" sz="3400" b="1" dirty="0">
                <a:solidFill>
                  <a:srgbClr val="F2B33D"/>
                </a:solidFill>
                <a:latin typeface="Barlow Condensed" pitchFamily="34" charset="0"/>
                <a:ea typeface="Barlow Condensed" pitchFamily="34" charset="-122"/>
                <a:cs typeface="Barlow Condensed" pitchFamily="34" charset="-120"/>
              </a:rPr>
              <a:t>~$590M</a:t>
            </a:r>
            <a:endParaRPr lang="en-US" sz="3400" dirty="0"/>
          </a:p>
        </p:txBody>
      </p:sp>
      <p:sp>
        <p:nvSpPr>
          <p:cNvPr id="12" name="Text 9"/>
          <p:cNvSpPr txBox="1"/>
          <p:nvPr/>
        </p:nvSpPr>
        <p:spPr>
          <a:xfrm>
            <a:off x="342900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sports-betting revenue in 2025, growing ~4.6% a year</a:t>
            </a:r>
            <a:endParaRPr lang="en-US" sz="1050" dirty="0"/>
          </a:p>
        </p:txBody>
      </p:sp>
      <p:sp>
        <p:nvSpPr>
          <p:cNvPr id="13" name="Shape 10"/>
          <p:cNvSpPr/>
          <p:nvPr/>
        </p:nvSpPr>
        <p:spPr>
          <a:xfrm>
            <a:off x="6035040" y="1417320"/>
            <a:ext cx="2606040" cy="1828800"/>
          </a:xfrm>
          <a:prstGeom prst="roundRect">
            <a:avLst>
              <a:gd name="adj" fmla="val 3000"/>
            </a:avLst>
          </a:prstGeom>
          <a:solidFill>
            <a:srgbClr val="16241F"/>
          </a:solidFill>
          <a:ln w="9525">
            <a:solidFill>
              <a:srgbClr val="2A3D34"/>
            </a:solidFill>
            <a:prstDash val="solid"/>
          </a:ln>
        </p:spPr>
      </p:sp>
      <p:sp>
        <p:nvSpPr>
          <p:cNvPr id="14" name="Text 11"/>
          <p:cNvSpPr txBox="1"/>
          <p:nvPr/>
        </p:nvSpPr>
        <p:spPr>
          <a:xfrm>
            <a:off x="6217920" y="1527048"/>
            <a:ext cx="2240280" cy="777240"/>
          </a:xfrm>
          <a:prstGeom prst="rect">
            <a:avLst/>
          </a:prstGeom>
          <a:noFill/>
          <a:ln/>
        </p:spPr>
        <p:txBody>
          <a:bodyPr wrap="square" lIns="0" tIns="0" rIns="0" bIns="0" rtlCol="0" anchor="ctr"/>
          <a:lstStyle/>
          <a:p>
            <a:pPr indent="0" marL="0">
              <a:buNone/>
            </a:pPr>
            <a:r>
              <a:rPr lang="en-US" sz="3400" b="1" dirty="0">
                <a:solidFill>
                  <a:srgbClr val="F2B33D"/>
                </a:solidFill>
                <a:latin typeface="Barlow Condensed" pitchFamily="34" charset="0"/>
                <a:ea typeface="Barlow Condensed" pitchFamily="34" charset="-122"/>
                <a:cs typeface="Barlow Condensed" pitchFamily="34" charset="-120"/>
              </a:rPr>
              <a:t>75–80%</a:t>
            </a:r>
            <a:endParaRPr lang="en-US" sz="3400" dirty="0"/>
          </a:p>
        </p:txBody>
      </p:sp>
      <p:sp>
        <p:nvSpPr>
          <p:cNvPr id="15" name="Text 12"/>
          <p:cNvSpPr txBox="1"/>
          <p:nvPr/>
        </p:nvSpPr>
        <p:spPr>
          <a:xfrm>
            <a:off x="621792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of handle is football; ~9 in 10 bets are placed on a phone</a:t>
            </a:r>
            <a:endParaRPr lang="en-US" sz="1050" dirty="0"/>
          </a:p>
        </p:txBody>
      </p:sp>
      <p:sp>
        <p:nvSpPr>
          <p:cNvPr id="16" name="Text 13"/>
          <p:cNvSpPr txBox="1"/>
          <p:nvPr/>
        </p:nvSpPr>
        <p:spPr>
          <a:xfrm>
            <a:off x="457200" y="3429000"/>
            <a:ext cx="8229600" cy="731520"/>
          </a:xfrm>
          <a:prstGeom prst="rect">
            <a:avLst/>
          </a:prstGeom>
          <a:noFill/>
          <a:ln/>
        </p:spPr>
        <p:txBody>
          <a:bodyPr wrap="square" lIns="0" tIns="0" rIns="0" bIns="0" rtlCol="0" anchor="t"/>
          <a:lstStyle/>
          <a:p>
            <a:pPr indent="0" marL="0">
              <a:buNone/>
            </a:pPr>
            <a:r>
              <a:rPr lang="en-US" sz="1150" dirty="0">
                <a:solidFill>
                  <a:srgbClr val="9DB0A6"/>
                </a:solidFill>
                <a:latin typeface="Arial" pitchFamily="34" charset="0"/>
                <a:ea typeface="Arial" pitchFamily="34" charset="-122"/>
                <a:cs typeface="Arial" pitchFamily="34" charset="-120"/>
              </a:rPr>
              <a:t>Five of the books in this platform — sportybet, msport, ilotbet, bet9ja, livescorebet — are the ones on those phones. The booking-slip culture ("copy my code") is the behaviour the AI layer studies.</a:t>
            </a:r>
            <a:endParaRPr lang="en-US" sz="1150" dirty="0"/>
          </a:p>
        </p:txBody>
      </p:sp>
      <p:sp>
        <p:nvSpPr>
          <p:cNvPr id="17" name="Text 14"/>
          <p:cNvSpPr txBox="1"/>
          <p:nvPr/>
        </p:nvSpPr>
        <p:spPr>
          <a:xfrm>
            <a:off x="457200" y="4389120"/>
            <a:ext cx="8229600" cy="347472"/>
          </a:xfrm>
          <a:prstGeom prst="rect">
            <a:avLst/>
          </a:prstGeom>
          <a:noFill/>
          <a:ln/>
        </p:spPr>
        <p:txBody>
          <a:bodyPr wrap="square" lIns="0" tIns="0" rIns="0" bIns="0" rtlCol="0" anchor="t"/>
          <a:lstStyle/>
          <a:p>
            <a:pPr indent="0" marL="0">
              <a:buNone/>
            </a:pPr>
            <a:r>
              <a:rPr lang="en-US" sz="750" dirty="0">
                <a:solidFill>
                  <a:srgbClr val="6C8077"/>
                </a:solidFill>
                <a:latin typeface="Arial" pitchFamily="34" charset="0"/>
                <a:ea typeface="Arial" pitchFamily="34" charset="-122"/>
                <a:cs typeface="Arial" pitchFamily="34" charset="-120"/>
              </a:rPr>
              <a:t>Sources: </a:t>
            </a:r>
            <a:pPr indent="0" marL="0">
              <a:buNone/>
            </a:pPr>
            <a:r>
              <a:rPr lang="en-US" sz="750" u="sng" dirty="0">
                <a:solidFill>
                  <a:srgbClr val="6C80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GeoPoll, Betting in Africa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News Agency of Nigeria,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iGaming Afrika, Nigeria market overview</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1:00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5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WHY THIS, WHY NOW</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WORLD CUP 2026: THE BIGGEST BETTING EVENT EVER</a:t>
            </a:r>
            <a:endParaRPr lang="en-US" sz="3400" dirty="0"/>
          </a:p>
        </p:txBody>
      </p:sp>
      <p:sp>
        <p:nvSpPr>
          <p:cNvPr id="7" name="Shape 4"/>
          <p:cNvSpPr/>
          <p:nvPr/>
        </p:nvSpPr>
        <p:spPr>
          <a:xfrm>
            <a:off x="457200" y="1417320"/>
            <a:ext cx="2606040" cy="1828800"/>
          </a:xfrm>
          <a:prstGeom prst="roundRect">
            <a:avLst>
              <a:gd name="adj" fmla="val 3000"/>
            </a:avLst>
          </a:prstGeom>
          <a:solidFill>
            <a:srgbClr val="16241F"/>
          </a:solidFill>
          <a:ln w="9525">
            <a:solidFill>
              <a:srgbClr val="2A3D34"/>
            </a:solidFill>
            <a:prstDash val="solid"/>
          </a:ln>
        </p:spPr>
      </p:sp>
      <p:sp>
        <p:nvSpPr>
          <p:cNvPr id="8" name="Text 5"/>
          <p:cNvSpPr txBox="1"/>
          <p:nvPr/>
        </p:nvSpPr>
        <p:spPr>
          <a:xfrm>
            <a:off x="64008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$3.3B</a:t>
            </a:r>
            <a:endParaRPr lang="en-US" sz="4000" dirty="0"/>
          </a:p>
        </p:txBody>
      </p:sp>
      <p:sp>
        <p:nvSpPr>
          <p:cNvPr id="9" name="Text 6"/>
          <p:cNvSpPr txBox="1"/>
          <p:nvPr/>
        </p:nvSpPr>
        <p:spPr>
          <a:xfrm>
            <a:off x="64008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legal US handle on the tournament (Deutsche Bank); estimates ran to $4.3B — ~9× Qatar 2022</a:t>
            </a:r>
            <a:endParaRPr lang="en-US" sz="1050" dirty="0"/>
          </a:p>
        </p:txBody>
      </p:sp>
      <p:sp>
        <p:nvSpPr>
          <p:cNvPr id="10" name="Shape 7"/>
          <p:cNvSpPr/>
          <p:nvPr/>
        </p:nvSpPr>
        <p:spPr>
          <a:xfrm>
            <a:off x="3246120" y="1417320"/>
            <a:ext cx="2606040" cy="1828800"/>
          </a:xfrm>
          <a:prstGeom prst="roundRect">
            <a:avLst>
              <a:gd name="adj" fmla="val 3000"/>
            </a:avLst>
          </a:prstGeom>
          <a:solidFill>
            <a:srgbClr val="16241F"/>
          </a:solidFill>
          <a:ln w="9525">
            <a:solidFill>
              <a:srgbClr val="2A3D34"/>
            </a:solidFill>
            <a:prstDash val="solid"/>
          </a:ln>
        </p:spPr>
      </p:sp>
      <p:sp>
        <p:nvSpPr>
          <p:cNvPr id="11" name="Text 8"/>
          <p:cNvSpPr txBox="1"/>
          <p:nvPr/>
        </p:nvSpPr>
        <p:spPr>
          <a:xfrm>
            <a:off x="3429000" y="1527048"/>
            <a:ext cx="2240280" cy="777240"/>
          </a:xfrm>
          <a:prstGeom prst="rect">
            <a:avLst/>
          </a:prstGeom>
          <a:noFill/>
          <a:ln/>
        </p:spPr>
        <p:txBody>
          <a:bodyPr wrap="square" lIns="0" tIns="0" rIns="0" bIns="0" rtlCol="0" anchor="ctr"/>
          <a:lstStyle/>
          <a:p>
            <a:pPr indent="0" marL="0">
              <a:buNone/>
            </a:pPr>
            <a:r>
              <a:rPr lang="en-US" sz="3400" b="1" dirty="0">
                <a:solidFill>
                  <a:srgbClr val="F2B33D"/>
                </a:solidFill>
                <a:latin typeface="Barlow Condensed" pitchFamily="34" charset="0"/>
                <a:ea typeface="Barlow Condensed" pitchFamily="34" charset="-122"/>
                <a:cs typeface="Barlow Condensed" pitchFamily="34" charset="-120"/>
              </a:rPr>
              <a:t>$50–60B</a:t>
            </a:r>
            <a:endParaRPr lang="en-US" sz="3400" dirty="0"/>
          </a:p>
        </p:txBody>
      </p:sp>
      <p:sp>
        <p:nvSpPr>
          <p:cNvPr id="12" name="Text 9"/>
          <p:cNvSpPr txBox="1"/>
          <p:nvPr/>
        </p:nvSpPr>
        <p:spPr>
          <a:xfrm>
            <a:off x="342900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wagered worldwide (Macquarie / H2 Gambling Capital), up from ~$35B in 2022</a:t>
            </a:r>
            <a:endParaRPr lang="en-US" sz="1050" dirty="0"/>
          </a:p>
        </p:txBody>
      </p:sp>
      <p:sp>
        <p:nvSpPr>
          <p:cNvPr id="13" name="Shape 10"/>
          <p:cNvSpPr/>
          <p:nvPr/>
        </p:nvSpPr>
        <p:spPr>
          <a:xfrm>
            <a:off x="6035040" y="1417320"/>
            <a:ext cx="2606040" cy="1828800"/>
          </a:xfrm>
          <a:prstGeom prst="roundRect">
            <a:avLst>
              <a:gd name="adj" fmla="val 3000"/>
            </a:avLst>
          </a:prstGeom>
          <a:solidFill>
            <a:srgbClr val="16241F"/>
          </a:solidFill>
          <a:ln w="9525">
            <a:solidFill>
              <a:srgbClr val="2A3D34"/>
            </a:solidFill>
            <a:prstDash val="solid"/>
          </a:ln>
        </p:spPr>
      </p:sp>
      <p:sp>
        <p:nvSpPr>
          <p:cNvPr id="14" name="Text 11"/>
          <p:cNvSpPr txBox="1"/>
          <p:nvPr/>
        </p:nvSpPr>
        <p:spPr>
          <a:xfrm>
            <a:off x="6217920" y="152704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10×</a:t>
            </a:r>
            <a:endParaRPr lang="en-US" sz="4000" dirty="0"/>
          </a:p>
        </p:txBody>
      </p:sp>
      <p:sp>
        <p:nvSpPr>
          <p:cNvPr id="15" name="Text 12"/>
          <p:cNvSpPr txBox="1"/>
          <p:nvPr/>
        </p:nvSpPr>
        <p:spPr>
          <a:xfrm>
            <a:off x="6217920" y="2331720"/>
            <a:ext cx="2240280" cy="77724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"ten Super Bowls" — how FOX Sports summarised the tournament's total handle</a:t>
            </a:r>
            <a:endParaRPr lang="en-US" sz="1050" dirty="0"/>
          </a:p>
        </p:txBody>
      </p:sp>
      <p:sp>
        <p:nvSpPr>
          <p:cNvPr id="16" name="Text 13"/>
          <p:cNvSpPr txBox="1"/>
          <p:nvPr/>
        </p:nvSpPr>
        <p:spPr>
          <a:xfrm>
            <a:off x="457200" y="3429000"/>
            <a:ext cx="8229600" cy="640080"/>
          </a:xfrm>
          <a:prstGeom prst="rect">
            <a:avLst/>
          </a:prstGeom>
          <a:noFill/>
          <a:ln/>
        </p:spPr>
        <p:txBody>
          <a:bodyPr wrap="square" lIns="0" tIns="0" rIns="0" bIns="0" rtlCol="0" anchor="t"/>
          <a:lstStyle/>
          <a:p>
            <a:pPr indent="0" marL="0">
              <a:buNone/>
            </a:pPr>
            <a:r>
              <a:rPr lang="en-US" sz="1150" dirty="0">
                <a:solidFill>
                  <a:srgbClr val="9DB0A6"/>
                </a:solidFill>
                <a:latin typeface="Arial" pitchFamily="34" charset="0"/>
                <a:ea typeface="Arial" pitchFamily="34" charset="-122"/>
                <a:cs typeface="Arial" pitchFamily="34" charset="-120"/>
              </a:rPr>
              <a:t>The platform was collecting through the tournament. The slips punters copied, and the prices five books put on them, are the data in this deck.</a:t>
            </a:r>
            <a:endParaRPr lang="en-US" sz="1150" dirty="0"/>
          </a:p>
        </p:txBody>
      </p:sp>
      <p:sp>
        <p:nvSpPr>
          <p:cNvPr id="17" name="Text 14"/>
          <p:cNvSpPr txBox="1"/>
          <p:nvPr/>
        </p:nvSpPr>
        <p:spPr>
          <a:xfrm>
            <a:off x="457200" y="4389120"/>
            <a:ext cx="8229600" cy="347472"/>
          </a:xfrm>
          <a:prstGeom prst="rect">
            <a:avLst/>
          </a:prstGeom>
          <a:noFill/>
          <a:ln/>
        </p:spPr>
        <p:txBody>
          <a:bodyPr wrap="square" lIns="0" tIns="0" rIns="0" bIns="0" rtlCol="0" anchor="t"/>
          <a:lstStyle/>
          <a:p>
            <a:pPr indent="0" marL="0">
              <a:buNone/>
            </a:pPr>
            <a:r>
              <a:rPr lang="en-US" sz="750" dirty="0">
                <a:solidFill>
                  <a:srgbClr val="6C8077"/>
                </a:solidFill>
                <a:latin typeface="Arial" pitchFamily="34" charset="0"/>
                <a:ea typeface="Arial" pitchFamily="34" charset="-122"/>
                <a:cs typeface="Arial" pitchFamily="34" charset="-120"/>
              </a:rPr>
              <a:t>Sources: </a:t>
            </a:r>
            <a:pPr indent="0" marL="0">
              <a:buNone/>
            </a:pPr>
            <a:r>
              <a:rPr lang="en-US" sz="750" u="sng" dirty="0">
                <a:solidFill>
                  <a:srgbClr val="6C80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CNBC, June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Yogonet, July 2026</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FOX Sports recap</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Casino.org</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1 · WHY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6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THE BUSINESS QUESTION</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PEOPLE ALREADY PAY FOR RECONCILED ODDS</a:t>
            </a:r>
            <a:endParaRPr lang="en-US" sz="3400" dirty="0"/>
          </a:p>
        </p:txBody>
      </p:sp>
      <p:sp>
        <p:nvSpPr>
          <p:cNvPr id="7" name="Shape 4"/>
          <p:cNvSpPr/>
          <p:nvPr/>
        </p:nvSpPr>
        <p:spPr>
          <a:xfrm>
            <a:off x="457200" y="1417320"/>
            <a:ext cx="4023360" cy="2834640"/>
          </a:xfrm>
          <a:prstGeom prst="roundRect">
            <a:avLst>
              <a:gd name="adj" fmla="val 1935"/>
            </a:avLst>
          </a:prstGeom>
          <a:solidFill>
            <a:srgbClr val="16241F"/>
          </a:solidFill>
          <a:ln w="9525">
            <a:solidFill>
              <a:srgbClr val="2A3D34"/>
            </a:solidFill>
            <a:prstDash val="solid"/>
          </a:ln>
        </p:spPr>
      </p:sp>
      <p:sp>
        <p:nvSpPr>
          <p:cNvPr id="8" name="Text 5"/>
          <p:cNvSpPr txBox="1"/>
          <p:nvPr/>
        </p:nvSpPr>
        <p:spPr>
          <a:xfrm>
            <a:off x="640080" y="152704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ODDSJAM — THE PROOF OF DEMAND</a:t>
            </a:r>
            <a:endParaRPr lang="en-US" sz="1400" dirty="0"/>
          </a:p>
        </p:txBody>
      </p:sp>
      <p:sp>
        <p:nvSpPr>
          <p:cNvPr id="9" name="Text 6"/>
          <p:cNvSpPr txBox="1"/>
          <p:nvPr/>
        </p:nvSpPr>
        <p:spPr>
          <a:xfrm>
            <a:off x="640080" y="1828800"/>
            <a:ext cx="3657600" cy="2377440"/>
          </a:xfrm>
          <a:prstGeom prst="rect">
            <a:avLst/>
          </a:prstGeom>
          <a:noFill/>
          <a:ln/>
        </p:spPr>
        <p:txBody>
          <a:bodyPr wrap="square" lIns="254" tIns="254" rIns="254" bIns="254" rtlCol="0" anchor="t"/>
          <a:lstStyle/>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Scans </a:t>
            </a:r>
            <a:pPr indent="0" marL="0">
              <a:buNone/>
            </a:pPr>
            <a:r>
              <a:rPr lang="en-US" sz="1050" b="1" dirty="0">
                <a:solidFill>
                  <a:srgbClr val="F2B33D"/>
                </a:solidFill>
                <a:latin typeface="Arial" pitchFamily="34" charset="0"/>
                <a:ea typeface="Arial" pitchFamily="34" charset="-122"/>
                <a:cs typeface="Arial" pitchFamily="34" charset="-120"/>
              </a:rPr>
              <a:t>50+ sportsbooks</a:t>
            </a:r>
            <a:pPr indent="0" marL="0">
              <a:buNone/>
            </a:pPr>
            <a:r>
              <a:rPr lang="en-US" sz="1050" dirty="0">
                <a:solidFill>
                  <a:srgbClr val="EEF3EE"/>
                </a:solidFill>
                <a:latin typeface="Arial" pitchFamily="34" charset="0"/>
                <a:ea typeface="Arial" pitchFamily="34" charset="-122"/>
                <a:cs typeface="Arial" pitchFamily="34" charset="-120"/>
              </a:rPr>
              <a:t> for positive-EV and arbitrage bets.</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Subscriptions from </a:t>
            </a:r>
            <a:pPr indent="0" marL="0">
              <a:buNone/>
            </a:pPr>
            <a:r>
              <a:rPr lang="en-US" sz="1050" b="1" dirty="0">
                <a:solidFill>
                  <a:srgbClr val="F2B33D"/>
                </a:solidFill>
                <a:latin typeface="Arial" pitchFamily="34" charset="0"/>
                <a:ea typeface="Arial" pitchFamily="34" charset="-122"/>
                <a:cs typeface="Arial" pitchFamily="34" charset="-120"/>
              </a:rPr>
              <a:t>$39</a:t>
            </a:r>
            <a:pPr indent="0" marL="0">
              <a:buNone/>
            </a:pPr>
            <a:r>
              <a:rPr lang="en-US" sz="1050" dirty="0">
                <a:solidFill>
                  <a:srgbClr val="EEF3EE"/>
                </a:solidFill>
                <a:latin typeface="Arial" pitchFamily="34" charset="0"/>
                <a:ea typeface="Arial" pitchFamily="34" charset="-122"/>
                <a:cs typeface="Arial" pitchFamily="34" charset="-120"/>
              </a:rPr>
              <a:t> to </a:t>
            </a:r>
            <a:pPr indent="0" marL="0">
              <a:buNone/>
            </a:pPr>
            <a:r>
              <a:rPr lang="en-US" sz="1050" b="1" dirty="0">
                <a:solidFill>
                  <a:srgbClr val="F2B33D"/>
                </a:solidFill>
                <a:latin typeface="Arial" pitchFamily="34" charset="0"/>
                <a:ea typeface="Arial" pitchFamily="34" charset="-122"/>
                <a:cs typeface="Arial" pitchFamily="34" charset="-120"/>
              </a:rPr>
              <a:t>$199</a:t>
            </a:r>
            <a:pPr indent="0" marL="0">
              <a:buNone/>
            </a:pPr>
            <a:r>
              <a:rPr lang="en-US" sz="1050" dirty="0">
                <a:solidFill>
                  <a:srgbClr val="EEF3EE"/>
                </a:solidFill>
                <a:latin typeface="Arial" pitchFamily="34" charset="0"/>
                <a:ea typeface="Arial" pitchFamily="34" charset="-122"/>
                <a:cs typeface="Arial" pitchFamily="34" charset="-120"/>
              </a:rPr>
              <a:t> a month (top tiers to $999).</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Founded 2020; still independent and growing.</a:t>
            </a:r>
            <a:endParaRPr lang="en-US" sz="1050" dirty="0"/>
          </a:p>
          <a:p>
            <a:pPr marL="342900" indent="-342900">
              <a:spcAft>
                <a:spcPts val="400"/>
              </a:spcAft>
              <a:buSzPct val="100000"/>
              <a:buChar char="•"/>
            </a:pPr>
            <a:r>
              <a:rPr lang="en-US" sz="1050" i="1" dirty="0">
                <a:solidFill>
                  <a:srgbClr val="EEF3EE"/>
                </a:solidFill>
                <a:latin typeface="Arial" pitchFamily="34" charset="0"/>
                <a:ea typeface="Arial" pitchFamily="34" charset="-122"/>
                <a:cs typeface="Arial" pitchFamily="34" charset="-120"/>
              </a:rPr>
              <a:t>Sport is a data business already: every commentary line is a statistic — possession, xG, corners, form. The bet is just the price attached to it.</a:t>
            </a:r>
            <a:endParaRPr lang="en-US" sz="1050" dirty="0"/>
          </a:p>
        </p:txBody>
      </p:sp>
      <p:sp>
        <p:nvSpPr>
          <p:cNvPr id="10" name="Shape 7"/>
          <p:cNvSpPr/>
          <p:nvPr/>
        </p:nvSpPr>
        <p:spPr>
          <a:xfrm>
            <a:off x="4663440" y="1417320"/>
            <a:ext cx="4023360" cy="2834640"/>
          </a:xfrm>
          <a:prstGeom prst="roundRect">
            <a:avLst>
              <a:gd name="adj" fmla="val 1935"/>
            </a:avLst>
          </a:prstGeom>
          <a:solidFill>
            <a:srgbClr val="16241F"/>
          </a:solidFill>
          <a:ln w="15875">
            <a:solidFill>
              <a:srgbClr val="F2B33D"/>
            </a:solidFill>
            <a:prstDash val="solid"/>
          </a:ln>
        </p:spPr>
      </p:sp>
      <p:sp>
        <p:nvSpPr>
          <p:cNvPr id="11" name="Text 8"/>
          <p:cNvSpPr txBox="1"/>
          <p:nvPr/>
        </p:nvSpPr>
        <p:spPr>
          <a:xfrm>
            <a:off x="4846320" y="152704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ARBIBET'S TWO QUESTIONS</a:t>
            </a:r>
            <a:endParaRPr lang="en-US" sz="1400" dirty="0"/>
          </a:p>
        </p:txBody>
      </p:sp>
      <p:sp>
        <p:nvSpPr>
          <p:cNvPr id="12" name="Text 9"/>
          <p:cNvSpPr txBox="1"/>
          <p:nvPr/>
        </p:nvSpPr>
        <p:spPr>
          <a:xfrm>
            <a:off x="4846320" y="1828800"/>
            <a:ext cx="3657600" cy="237744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Across five Nigerian and international books, do the prices ever disagree enough to matter?</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When thousands of people copy a betting slip, does it actually make sense?</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Both need the same thing: every book's prices on one taxonomy, joined to what actually happened.</a:t>
            </a:r>
            <a:endParaRPr lang="en-US" sz="1050" dirty="0"/>
          </a:p>
        </p:txBody>
      </p:sp>
      <p:sp>
        <p:nvSpPr>
          <p:cNvPr id="13" name="Text 10"/>
          <p:cNvSpPr txBox="1"/>
          <p:nvPr/>
        </p:nvSpPr>
        <p:spPr>
          <a:xfrm>
            <a:off x="457200" y="4389120"/>
            <a:ext cx="8229600" cy="347472"/>
          </a:xfrm>
          <a:prstGeom prst="rect">
            <a:avLst/>
          </a:prstGeom>
          <a:noFill/>
          <a:ln/>
        </p:spPr>
        <p:txBody>
          <a:bodyPr wrap="square" lIns="0" tIns="0" rIns="0" bIns="0" rtlCol="0" anchor="t"/>
          <a:lstStyle/>
          <a:p>
            <a:pPr indent="0" marL="0">
              <a:buNone/>
            </a:pPr>
            <a:r>
              <a:rPr lang="en-US" sz="750" dirty="0">
                <a:solidFill>
                  <a:srgbClr val="6C8077"/>
                </a:solidFill>
                <a:latin typeface="Arial" pitchFamily="34" charset="0"/>
                <a:ea typeface="Arial" pitchFamily="34" charset="-122"/>
                <a:cs typeface="Arial" pitchFamily="34" charset="-120"/>
              </a:rPr>
              <a:t>Sources: </a:t>
            </a:r>
            <a:pPr indent="0" marL="0">
              <a:buNone/>
            </a:pPr>
            <a:r>
              <a:rPr lang="en-US" sz="750" u="sng" dirty="0">
                <a:solidFill>
                  <a:srgbClr val="6C807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OddsJam subscription packages</a:t>
            </a:r>
            <a:pPr indent="0" marL="0">
              <a:buNone/>
            </a:pPr>
            <a:r>
              <a:rPr lang="en-US" sz="750" dirty="0">
                <a:solidFill>
                  <a:srgbClr val="6C8077"/>
                </a:solidFill>
                <a:latin typeface="Arial" pitchFamily="34" charset="0"/>
                <a:ea typeface="Arial" pitchFamily="34" charset="-122"/>
                <a:cs typeface="Arial" pitchFamily="34" charset="-120"/>
              </a:rPr>
              <a:t>  ·  </a:t>
            </a:r>
            <a:pPr indent="0" marL="0">
              <a:buNone/>
            </a:pPr>
            <a:r>
              <a:rPr lang="en-US" sz="750" u="sng" dirty="0">
                <a:solidFill>
                  <a:srgbClr val="6C807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XCLSV, OddsJam review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7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THE PLATFORM, PART 1 OF 2</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WHERE THE DATA COMES FROM</a:t>
            </a:r>
            <a:endParaRPr lang="en-US" sz="3400" dirty="0"/>
          </a:p>
        </p:txBody>
      </p:sp>
      <p:sp>
        <p:nvSpPr>
          <p:cNvPr id="7" name="Shape 4"/>
          <p:cNvSpPr/>
          <p:nvPr/>
        </p:nvSpPr>
        <p:spPr>
          <a:xfrm>
            <a:off x="457200" y="1325880"/>
            <a:ext cx="8229600" cy="3337560"/>
          </a:xfrm>
          <a:prstGeom prst="roundRect">
            <a:avLst>
              <a:gd name="adj" fmla="val 1644"/>
            </a:avLst>
          </a:prstGeom>
          <a:solidFill>
            <a:srgbClr val="16241F"/>
          </a:solidFill>
          <a:ln w="9525">
            <a:solidFill>
              <a:srgbClr val="2A3D34"/>
            </a:solidFill>
            <a:prstDash val="solid"/>
          </a:ln>
        </p:spPr>
      </p:sp>
      <p:pic>
        <p:nvPicPr>
          <p:cNvPr id="8" name="Image 0" descr="C:/Users/Dumebi/Arbibet/arbibet-capstone/docs/presentation/pipeline-sources.png">    </p:cNvPr>
          <p:cNvPicPr>
            <a:picLocks noChangeAspect="1"/>
          </p:cNvPicPr>
          <p:nvPr/>
        </p:nvPicPr>
        <p:blipFill>
          <a:blip r:embed="rId1"/>
          <a:srcRect l="0" r="0" t="0" b="0"/>
          <a:stretch/>
        </p:blipFill>
        <p:spPr>
          <a:xfrm>
            <a:off x="548640" y="1417320"/>
            <a:ext cx="8046720" cy="3154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8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THE PLATFORM, PART 2 OF 2</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CAPSTONE PIPELINE</a:t>
            </a:r>
            <a:endParaRPr lang="en-US" sz="3400" dirty="0"/>
          </a:p>
        </p:txBody>
      </p:sp>
      <p:sp>
        <p:nvSpPr>
          <p:cNvPr id="7" name="Shape 4"/>
          <p:cNvSpPr/>
          <p:nvPr/>
        </p:nvSpPr>
        <p:spPr>
          <a:xfrm>
            <a:off x="457200" y="1325880"/>
            <a:ext cx="8229600" cy="3337560"/>
          </a:xfrm>
          <a:prstGeom prst="roundRect">
            <a:avLst>
              <a:gd name="adj" fmla="val 1644"/>
            </a:avLst>
          </a:prstGeom>
          <a:solidFill>
            <a:srgbClr val="16241F"/>
          </a:solidFill>
          <a:ln w="9525">
            <a:solidFill>
              <a:srgbClr val="2A3D34"/>
            </a:solidFill>
            <a:prstDash val="solid"/>
          </a:ln>
        </p:spPr>
      </p:sp>
      <p:pic>
        <p:nvPicPr>
          <p:cNvPr id="8" name="Image 0" descr="C:/Users/Dumebi/Arbibet/arbibet-capstone/docs/presentation/pipeline-capstone.png">    </p:cNvPr>
          <p:cNvPicPr>
            <a:picLocks noChangeAspect="1"/>
          </p:cNvPicPr>
          <p:nvPr/>
        </p:nvPicPr>
        <p:blipFill>
          <a:blip r:embed="rId1"/>
          <a:srcRect l="0" r="0" t="0" b="0"/>
          <a:stretch/>
        </p:blipFill>
        <p:spPr>
          <a:xfrm>
            <a:off x="548640" y="1417320"/>
            <a:ext cx="8046720" cy="3154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9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1 · COLLECTION</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GO COLLECTOR</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A pool of HTTP collectors hits </a:t>
            </a:r>
            <a:pPr indent="0" marL="0">
              <a:buNone/>
            </a:pPr>
            <a:r>
              <a:rPr lang="en-US" sz="1050" b="1" dirty="0">
                <a:solidFill>
                  <a:srgbClr val="F2B33D"/>
                </a:solidFill>
                <a:latin typeface="Arial" pitchFamily="34" charset="0"/>
                <a:ea typeface="Arial" pitchFamily="34" charset="-122"/>
                <a:cs typeface="Arial" pitchFamily="34" charset="-120"/>
              </a:rPr>
              <a:t>20+ bookmaker APIs</a:t>
            </a:r>
            <a:pPr indent="0" marL="0">
              <a:buNone/>
            </a:pPr>
            <a:r>
              <a:rPr lang="en-US" sz="1050" dirty="0">
                <a:solidFill>
                  <a:srgbClr val="EEF3EE"/>
                </a:solidFill>
                <a:latin typeface="Arial" pitchFamily="34" charset="0"/>
                <a:ea typeface="Arial" pitchFamily="34" charset="-122"/>
                <a:cs typeface="Arial" pitchFamily="34" charset="-120"/>
              </a:rPr>
              <a:t> on a per-plugin schedule — one plugin per book, so one broken book never stalls the rest.</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Validates, deduplicates with a content-addressed cache, persists to Postgres.</a:t>
            </a:r>
            <a:endParaRPr lang="en-US" sz="1050" dirty="0"/>
          </a:p>
          <a:p>
            <a:pPr marL="342900" indent="-342900">
              <a:spcAft>
                <a:spcPts val="400"/>
              </a:spcAft>
              <a:buSzPct val="100000"/>
              <a:buChar char="•"/>
            </a:pPr>
            <a:r>
              <a:rPr lang="en-US" sz="1050" i="1" dirty="0">
                <a:solidFill>
                  <a:srgbClr val="EEF3EE"/>
                </a:solidFill>
                <a:latin typeface="Arial" pitchFamily="34" charset="0"/>
                <a:ea typeface="Arial" pitchFamily="34" charset="-122"/>
                <a:cs typeface="Arial" pitchFamily="34" charset="-120"/>
              </a:rPr>
              <a:t>Inherited a v1 and re-platformed it.</a:t>
            </a:r>
            <a:pPr indent="0" marL="0">
              <a:buNone/>
            </a:pPr>
            <a:r>
              <a:rPr lang="en-US" sz="1050" dirty="0">
                <a:solidFill>
                  <a:srgbClr val="EEF3EE"/>
                </a:solidFill>
                <a:latin typeface="Arial" pitchFamily="34" charset="0"/>
                <a:ea typeface="Arial" pitchFamily="34" charset="-122"/>
                <a:cs typeface="Arial" pitchFamily="34" charset="-120"/>
              </a:rPr>
              <a:t> My changes: the </a:t>
            </a:r>
            <a:pPr indent="0" marL="0">
              <a:buNone/>
            </a:pPr>
            <a:r>
              <a:rPr lang="en-US" sz="1050" b="1" dirty="0">
                <a:solidFill>
                  <a:srgbClr val="F2B33D"/>
                </a:solidFill>
                <a:latin typeface="Arial" pitchFamily="34" charset="0"/>
                <a:ea typeface="Arial" pitchFamily="34" charset="-122"/>
                <a:cs typeface="Arial" pitchFamily="34" charset="-120"/>
              </a:rPr>
              <a:t>MongoDB → Postgres migration</a:t>
            </a:r>
            <a:pPr indent="0" marL="0">
              <a:buNone/>
            </a:pPr>
            <a:r>
              <a:rPr lang="en-US" sz="1050" dirty="0">
                <a:solidFill>
                  <a:srgbClr val="EEF3EE"/>
                </a:solidFill>
                <a:latin typeface="Arial" pitchFamily="34" charset="0"/>
                <a:ea typeface="Arial" pitchFamily="34" charset="-122"/>
                <a:cs typeface="Arial" pitchFamily="34" charset="-120"/>
              </a:rPr>
              <a:t>, </a:t>
            </a:r>
            <a:pPr indent="0" marL="0">
              <a:buNone/>
            </a:pPr>
            <a:r>
              <a:rPr lang="en-US" sz="1050" b="1" dirty="0">
                <a:solidFill>
                  <a:srgbClr val="F2B33D"/>
                </a:solidFill>
                <a:latin typeface="Arial" pitchFamily="34" charset="0"/>
                <a:ea typeface="Arial" pitchFamily="34" charset="-122"/>
                <a:cs typeface="Arial" pitchFamily="34" charset="-120"/>
              </a:rPr>
              <a:t>team-ID extraction</a:t>
            </a:r>
            <a:pPr indent="0" marL="0">
              <a:buNone/>
            </a:pPr>
            <a:r>
              <a:rPr lang="en-US" sz="1050" dirty="0">
                <a:solidFill>
                  <a:srgbClr val="EEF3EE"/>
                </a:solidFill>
                <a:latin typeface="Arial" pitchFamily="34" charset="0"/>
                <a:ea typeface="Arial" pitchFamily="34" charset="-122"/>
                <a:cs typeface="Arial" pitchFamily="34" charset="-120"/>
              </a:rPr>
              <a:t>, and the </a:t>
            </a:r>
            <a:pPr indent="0" marL="0">
              <a:buNone/>
            </a:pPr>
            <a:r>
              <a:rPr lang="en-US" sz="1050" b="1" dirty="0">
                <a:solidFill>
                  <a:srgbClr val="F2B33D"/>
                </a:solidFill>
                <a:latin typeface="Arial" pitchFamily="34" charset="0"/>
                <a:ea typeface="Arial" pitchFamily="34" charset="-122"/>
                <a:cs typeface="Arial" pitchFamily="34" charset="-120"/>
              </a:rPr>
              <a:t>event-ID collision fix</a:t>
            </a:r>
            <a:pPr indent="0" marL="0">
              <a:buNone/>
            </a:pPr>
            <a:r>
              <a:rPr lang="en-US" sz="1050" dirty="0">
                <a:solidFill>
                  <a:srgbClr val="EEF3EE"/>
                </a:solidFill>
                <a:latin typeface="Arial" pitchFamily="34" charset="0"/>
                <a:ea typeface="Arial" pitchFamily="34" charset="-122"/>
                <a:cs typeface="Arial" pitchFamily="34" charset="-120"/>
              </a:rPr>
              <a:t>. The plugin architecture predates me.</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369418"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369418"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Go</a:t>
            </a:r>
            <a:endParaRPr lang="en-US" sz="750" dirty="0"/>
          </a:p>
        </p:txBody>
      </p:sp>
      <p:sp>
        <p:nvSpPr>
          <p:cNvPr id="14" name="Shape 11"/>
          <p:cNvSpPr/>
          <p:nvPr/>
        </p:nvSpPr>
        <p:spPr>
          <a:xfrm>
            <a:off x="6157570" y="1755648"/>
            <a:ext cx="709574"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157570" y="1755648"/>
            <a:ext cx="70957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Postgres</a:t>
            </a:r>
            <a:endParaRPr lang="en-US" sz="750" dirty="0"/>
          </a:p>
        </p:txBody>
      </p:sp>
      <p:sp>
        <p:nvSpPr>
          <p:cNvPr id="16" name="Shape 13"/>
          <p:cNvSpPr/>
          <p:nvPr/>
        </p:nvSpPr>
        <p:spPr>
          <a:xfrm>
            <a:off x="6940296" y="1755648"/>
            <a:ext cx="1276502"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6940296" y="1755648"/>
            <a:ext cx="1276502"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Kafka-instrumented</a:t>
            </a:r>
            <a:endParaRPr lang="en-US" sz="750" dirty="0"/>
          </a:p>
        </p:txBody>
      </p:sp>
      <p:sp>
        <p:nvSpPr>
          <p:cNvPr id="18" name="Shape 15"/>
          <p:cNvSpPr/>
          <p:nvPr/>
        </p:nvSpPr>
        <p:spPr>
          <a:xfrm>
            <a:off x="5715000" y="2057400"/>
            <a:ext cx="1503274"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5715000" y="2057400"/>
            <a:ext cx="150327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per-plugin rate limits</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E0553F"/>
          </a:solidFill>
          <a:ln w="12700">
            <a:solidFill>
              <a:srgbClr val="E0553F"/>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Two different fixtures sharing one event id looked like one fixture with twice the prices. Nothing errored; the collision fix was found from the data, not a log.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10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2 · BRONZE</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MARKETS BRONZE: KEEP EVERYTHING, VERBATIM</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6.9 million payloads</a:t>
            </a:r>
            <a:pPr indent="0" marL="0">
              <a:buNone/>
            </a:pPr>
            <a:r>
              <a:rPr lang="en-US" sz="1050" dirty="0">
                <a:solidFill>
                  <a:srgbClr val="EEF3EE"/>
                </a:solidFill>
                <a:latin typeface="Arial" pitchFamily="34" charset="0"/>
                <a:ea typeface="Arial" pitchFamily="34" charset="-122"/>
                <a:cs typeface="Arial" pitchFamily="34" charset="-120"/>
              </a:rPr>
              <a:t> from ~14 books, stored as the exact bytes each book returned — with payload_sha256, parser_version and run_id on every row.</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Append on change:</a:t>
            </a:r>
            <a:pPr indent="0" marL="0">
              <a:buNone/>
            </a:pPr>
            <a:r>
              <a:rPr lang="en-US" sz="1050" dirty="0">
                <a:solidFill>
                  <a:srgbClr val="EEF3EE"/>
                </a:solidFill>
                <a:latin typeface="Arial" pitchFamily="34" charset="0"/>
                <a:ea typeface="Arial" pitchFamily="34" charset="-122"/>
                <a:cs typeface="Arial" pitchFamily="34" charset="-120"/>
              </a:rPr>
              <a:t> a row is written only when a book's response differs from the last one. Bronze never updates.</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Byte fidelity is the contract: a malformed body fails in the parser, where the failure has a reason, never on the way in.</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709574"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709574"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Postgres</a:t>
            </a:r>
            <a:endParaRPr lang="en-US" sz="750" dirty="0"/>
          </a:p>
        </p:txBody>
      </p:sp>
      <p:sp>
        <p:nvSpPr>
          <p:cNvPr id="14" name="Shape 11"/>
          <p:cNvSpPr/>
          <p:nvPr/>
        </p:nvSpPr>
        <p:spPr>
          <a:xfrm>
            <a:off x="6497726" y="1755648"/>
            <a:ext cx="539496"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497726" y="1755648"/>
            <a:ext cx="53949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BYTEA</a:t>
            </a:r>
            <a:endParaRPr lang="en-US" sz="750" dirty="0"/>
          </a:p>
        </p:txBody>
      </p:sp>
      <p:sp>
        <p:nvSpPr>
          <p:cNvPr id="16" name="Shape 13"/>
          <p:cNvSpPr/>
          <p:nvPr/>
        </p:nvSpPr>
        <p:spPr>
          <a:xfrm>
            <a:off x="7110374" y="1755648"/>
            <a:ext cx="766267"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7110374" y="1755648"/>
            <a:ext cx="766267"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medallion</a:t>
            </a:r>
            <a:endParaRPr lang="en-US" sz="750" dirty="0"/>
          </a:p>
        </p:txBody>
      </p:sp>
      <p:sp>
        <p:nvSpPr>
          <p:cNvPr id="18" name="Shape 15"/>
          <p:cNvSpPr/>
          <p:nvPr/>
        </p:nvSpPr>
        <p:spPr>
          <a:xfrm>
            <a:off x="5715000" y="2057400"/>
            <a:ext cx="822960"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5715000" y="2057400"/>
            <a:ext cx="822960"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hash dedup</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E0553F"/>
          </a:solidFill>
          <a:ln w="12700">
            <a:solidFill>
              <a:srgbClr val="E0553F"/>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"Append on change" means a book whose price has not moved contributes an hours-old leg to a "snapshot". An arbitrage across a fresh leg and a stale one is an artefact. The spread is now recorded on every signal — observed up to 30 hours.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11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2B · COLD STORAGE</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PARQUET LAKE ATTEMPT</a:t>
            </a:r>
            <a:endParaRPr lang="en-US" sz="3400" dirty="0"/>
          </a:p>
        </p:txBody>
      </p:sp>
      <p:sp>
        <p:nvSpPr>
          <p:cNvPr id="7" name="Shape 4"/>
          <p:cNvSpPr/>
          <p:nvPr/>
        </p:nvSpPr>
        <p:spPr>
          <a:xfrm>
            <a:off x="457200" y="1417320"/>
            <a:ext cx="2651760" cy="3063240"/>
          </a:xfrm>
          <a:prstGeom prst="roundRect">
            <a:avLst>
              <a:gd name="adj" fmla="val 2069"/>
            </a:avLst>
          </a:prstGeom>
          <a:solidFill>
            <a:srgbClr val="16241F"/>
          </a:solidFill>
          <a:ln w="9525">
            <a:solidFill>
              <a:srgbClr val="2A3D34"/>
            </a:solidFill>
            <a:prstDash val="solid"/>
          </a:ln>
        </p:spPr>
      </p:sp>
      <p:sp>
        <p:nvSpPr>
          <p:cNvPr id="8" name="Text 5"/>
          <p:cNvSpPr txBox="1"/>
          <p:nvPr/>
        </p:nvSpPr>
        <p:spPr>
          <a:xfrm>
            <a:off x="640080" y="1508760"/>
            <a:ext cx="2286000" cy="73152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8.8M</a:t>
            </a:r>
            <a:endParaRPr lang="en-US" sz="4000" dirty="0"/>
          </a:p>
        </p:txBody>
      </p:sp>
      <p:sp>
        <p:nvSpPr>
          <p:cNvPr id="9" name="Text 6"/>
          <p:cNvSpPr txBox="1"/>
          <p:nvPr/>
        </p:nvSpPr>
        <p:spPr>
          <a:xfrm>
            <a:off x="640080" y="2240280"/>
            <a:ext cx="2286000" cy="36576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bronze rows exported to parquet</a:t>
            </a:r>
            <a:endParaRPr lang="en-US" sz="1050" dirty="0"/>
          </a:p>
        </p:txBody>
      </p:sp>
      <p:sp>
        <p:nvSpPr>
          <p:cNvPr id="10" name="Text 7"/>
          <p:cNvSpPr txBox="1"/>
          <p:nvPr/>
        </p:nvSpPr>
        <p:spPr>
          <a:xfrm>
            <a:off x="640080" y="2743200"/>
            <a:ext cx="2286000" cy="73152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43 GB</a:t>
            </a:r>
            <a:endParaRPr lang="en-US" sz="4000" dirty="0"/>
          </a:p>
        </p:txBody>
      </p:sp>
      <p:sp>
        <p:nvSpPr>
          <p:cNvPr id="11" name="Text 8"/>
          <p:cNvSpPr txBox="1"/>
          <p:nvPr/>
        </p:nvSpPr>
        <p:spPr>
          <a:xfrm>
            <a:off x="640080" y="3474720"/>
            <a:ext cx="2286000" cy="36576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on local disk, D:\arbibet-cold</a:t>
            </a:r>
            <a:endParaRPr lang="en-US" sz="1050" dirty="0"/>
          </a:p>
        </p:txBody>
      </p:sp>
      <p:sp>
        <p:nvSpPr>
          <p:cNvPr id="12" name="Shape 9"/>
          <p:cNvSpPr/>
          <p:nvPr/>
        </p:nvSpPr>
        <p:spPr>
          <a:xfrm>
            <a:off x="3291840" y="1417320"/>
            <a:ext cx="5394960" cy="3063240"/>
          </a:xfrm>
          <a:prstGeom prst="roundRect">
            <a:avLst>
              <a:gd name="adj" fmla="val 1791"/>
            </a:avLst>
          </a:prstGeom>
          <a:solidFill>
            <a:srgbClr val="16241F"/>
          </a:solidFill>
          <a:ln w="9525">
            <a:solidFill>
              <a:srgbClr val="2A3D34"/>
            </a:solidFill>
            <a:prstDash val="solid"/>
          </a:ln>
        </p:spPr>
      </p:sp>
      <p:sp>
        <p:nvSpPr>
          <p:cNvPr id="13" name="Text 10"/>
          <p:cNvSpPr txBox="1"/>
          <p:nvPr/>
        </p:nvSpPr>
        <p:spPr>
          <a:xfrm>
            <a:off x="3474720" y="1527048"/>
            <a:ext cx="50292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TWO TIERS, BUILT WITH DUCKDB</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474720" y="1828800"/>
          <a:ext cx="5029200" cy="914400"/>
        </p:xfrm>
        <a:graphic>
          <a:graphicData uri="http://schemas.openxmlformats.org/drawingml/2006/table">
            <a:tbl>
              <a:tblPr/>
              <a:tblGrid>
                <a:gridCol w="1005840"/>
                <a:gridCol w="1463040"/>
                <a:gridCol w="1280160"/>
                <a:gridCol w="1280160"/>
              </a:tblGrid>
              <a:tr h="0">
                <a:tc>
                  <a:txBody>
                    <a:bodyPr/>
                    <a:lstStyle/>
                    <a:p>
                      <a:pPr indent="0" marL="0">
                        <a:buNone/>
                      </a:pPr>
                      <a:r>
                        <a:rPr lang="en-US" sz="750" b="1" dirty="0">
                          <a:solidFill>
                            <a:srgbClr val="9DB0A6"/>
                          </a:solidFill>
                          <a:latin typeface="Courier New" pitchFamily="34" charset="0"/>
                          <a:ea typeface="Courier New" pitchFamily="34" charset="-122"/>
                          <a:cs typeface="Courier New" pitchFamily="34" charset="-120"/>
                        </a:rPr>
                        <a:t>TIER</a:t>
                      </a:r>
                      <a:endParaRPr lang="en-US" sz="75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50" b="1" dirty="0">
                          <a:solidFill>
                            <a:srgbClr val="9DB0A6"/>
                          </a:solidFill>
                          <a:latin typeface="Courier New" pitchFamily="34" charset="0"/>
                          <a:ea typeface="Courier New" pitchFamily="34" charset="-122"/>
                          <a:cs typeface="Courier New" pitchFamily="34" charset="-120"/>
                        </a:rPr>
                        <a:t>ROWS</a:t>
                      </a:r>
                      <a:endParaRPr lang="en-US" sz="75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50" b="1" dirty="0">
                          <a:solidFill>
                            <a:srgbClr val="9DB0A6"/>
                          </a:solidFill>
                          <a:latin typeface="Courier New" pitchFamily="34" charset="0"/>
                          <a:ea typeface="Courier New" pitchFamily="34" charset="-122"/>
                          <a:cs typeface="Courier New" pitchFamily="34" charset="-120"/>
                        </a:rPr>
                        <a:t>SIZE</a:t>
                      </a:r>
                      <a:endParaRPr lang="en-US" sz="75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50" b="1" dirty="0">
                          <a:solidFill>
                            <a:srgbClr val="9DB0A6"/>
                          </a:solidFill>
                          <a:latin typeface="Courier New" pitchFamily="34" charset="0"/>
                          <a:ea typeface="Courier New" pitchFamily="34" charset="-122"/>
                          <a:cs typeface="Courier New" pitchFamily="34" charset="-120"/>
                        </a:rPr>
                        <a:t>ROW GROUPS</a:t>
                      </a:r>
                      <a:endParaRPr lang="en-US" sz="75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1000" dirty="0">
                          <a:solidFill>
                            <a:srgbClr val="EEF3EE"/>
                          </a:solidFill>
                          <a:latin typeface="Arial" pitchFamily="34" charset="0"/>
                          <a:ea typeface="Arial" pitchFamily="34" charset="-122"/>
                          <a:cs typeface="Arial" pitchFamily="34" charset="-120"/>
                        </a:rPr>
                        <a:t>cold</a:t>
                      </a:r>
                      <a:endParaRPr lang="en-US" sz="1000" dirty="0">
                        <a:latin typeface="Arial" charset="0"/>
                        <a:ea typeface="Arial" charset="0"/>
                        <a:cs typeface="Arial"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3,853,417</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16.5 GB</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377</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1000" dirty="0">
                          <a:solidFill>
                            <a:srgbClr val="EEF3EE"/>
                          </a:solidFill>
                          <a:latin typeface="Arial" pitchFamily="34" charset="0"/>
                          <a:ea typeface="Arial" pitchFamily="34" charset="-122"/>
                          <a:cs typeface="Arial" pitchFamily="34" charset="-120"/>
                        </a:rPr>
                        <a:t>warm</a:t>
                      </a:r>
                      <a:endParaRPr lang="en-US" sz="1000" dirty="0">
                        <a:latin typeface="Arial" charset="0"/>
                        <a:ea typeface="Arial" charset="0"/>
                        <a:cs typeface="Arial"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4,936,610</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26.4 GB</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1000" dirty="0">
                          <a:solidFill>
                            <a:srgbClr val="EEF3EE"/>
                          </a:solidFill>
                          <a:latin typeface="Courier New" pitchFamily="34" charset="0"/>
                          <a:ea typeface="Courier New" pitchFamily="34" charset="-122"/>
                          <a:cs typeface="Courier New" pitchFamily="34" charset="-120"/>
                        </a:rPr>
                        <a:t>483</a:t>
                      </a:r>
                      <a:endParaRPr lang="en-US" sz="1000" dirty="0">
                        <a:latin typeface="Courier New" charset="0"/>
                        <a:ea typeface="Courier New" charset="0"/>
                        <a:cs typeface="Courier New" charset="0"/>
                      </a:endParaRPr>
                    </a:p>
                  </a:txBody>
                  <a:tcPr marL="54864" marR="54864" marT="54864" marB="54864">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bl>
          </a:graphicData>
        </a:graphic>
      </p:graphicFrame>
      <p:sp>
        <p:nvSpPr>
          <p:cNvPr id="15" name="Text 11"/>
          <p:cNvSpPr txBox="1"/>
          <p:nvPr/>
        </p:nvSpPr>
        <p:spPr>
          <a:xfrm>
            <a:off x="3474720" y="2880360"/>
            <a:ext cx="5029200" cy="548640"/>
          </a:xfrm>
          <a:prstGeom prst="rect">
            <a:avLst/>
          </a:prstGeom>
          <a:noFill/>
          <a:ln/>
        </p:spPr>
        <p:txBody>
          <a:bodyPr wrap="square" lIns="0" tIns="0" rIns="0" bIns="0" rtlCol="0" anchor="t"/>
          <a:lstStyle/>
          <a:p>
            <a:pPr indent="0" marL="0">
              <a:buNone/>
            </a:pPr>
            <a:r>
              <a:rPr lang="en-US" sz="950" dirty="0">
                <a:solidFill>
                  <a:srgbClr val="9DB0A6"/>
                </a:solidFill>
                <a:latin typeface="Arial" pitchFamily="34" charset="0"/>
                <a:ea typeface="Arial" pitchFamily="34" charset="-122"/>
                <a:cs typeface="Arial" pitchFamily="34" charset="-120"/>
              </a:rPr>
              <a:t>Same 12 columns as bronze — event, bookmaker, fire/ingest/write time, HTTP status, payload, sha256, parser version, run id — so it is a faithful mirror, not a summary.</a:t>
            </a:r>
            <a:endParaRPr lang="en-US" sz="950" dirty="0"/>
          </a:p>
        </p:txBody>
      </p:sp>
      <p:sp>
        <p:nvSpPr>
          <p:cNvPr id="16" name="Shape 12"/>
          <p:cNvSpPr/>
          <p:nvPr/>
        </p:nvSpPr>
        <p:spPr>
          <a:xfrm>
            <a:off x="3474720" y="3611880"/>
            <a:ext cx="5029200" cy="502920"/>
          </a:xfrm>
          <a:prstGeom prst="roundRect">
            <a:avLst>
              <a:gd name="adj" fmla="val 7273"/>
            </a:avLst>
          </a:prstGeom>
          <a:solidFill>
            <a:srgbClr val="0E1A16"/>
          </a:solidFill>
          <a:ln w="12700">
            <a:solidFill>
              <a:srgbClr val="F2B33D"/>
            </a:solidFill>
            <a:prstDash val="dash"/>
          </a:ln>
        </p:spPr>
      </p:sp>
      <p:sp>
        <p:nvSpPr>
          <p:cNvPr id="17" name="Text 13"/>
          <p:cNvSpPr txBox="1"/>
          <p:nvPr/>
        </p:nvSpPr>
        <p:spPr>
          <a:xfrm>
            <a:off x="3566160" y="3611880"/>
            <a:ext cx="4846320" cy="502920"/>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[YOUR INPUT] why two tiers, what worked, why it paused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12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3 · IDENTITY &amp; RECORD</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MATCHER + API-FOOTBALL INGESTOR</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Matcher:</a:t>
            </a:r>
            <a:pPr indent="0" marL="0">
              <a:buNone/>
            </a:pPr>
            <a:r>
              <a:rPr lang="en-US" sz="1050" dirty="0">
                <a:solidFill>
                  <a:srgbClr val="EEF3EE"/>
                </a:solidFill>
                <a:latin typeface="Arial" pitchFamily="34" charset="0"/>
                <a:ea typeface="Arial" pitchFamily="34" charset="-122"/>
                <a:cs typeface="Arial" pitchFamily="34" charset="-120"/>
              </a:rPr>
              <a:t> Man Utd, Manchester Utd, Manchester United FC are one club to a human and three strings to a database. It decides which entries across books are the same fixture and persists a canonical match graph.</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Ingestor:</a:t>
            </a:r>
            <a:pPr indent="0" marL="0">
              <a:buNone/>
            </a:pPr>
            <a:r>
              <a:rPr lang="en-US" sz="1050" dirty="0">
                <a:solidFill>
                  <a:srgbClr val="EEF3EE"/>
                </a:solidFill>
                <a:latin typeface="Arial" pitchFamily="34" charset="0"/>
                <a:ea typeface="Arial" pitchFamily="34" charset="-122"/>
                <a:cs typeface="Arial" pitchFamily="34" charset="-120"/>
              </a:rPr>
              <a:t> the record of what actually happened — </a:t>
            </a:r>
            <a:pPr indent="0" marL="0">
              <a:buNone/>
            </a:pPr>
            <a:r>
              <a:rPr lang="en-US" sz="1050" b="1" dirty="0">
                <a:solidFill>
                  <a:srgbClr val="F2B33D"/>
                </a:solidFill>
                <a:latin typeface="Arial" pitchFamily="34" charset="0"/>
                <a:ea typeface="Arial" pitchFamily="34" charset="-122"/>
                <a:cs typeface="Arial" pitchFamily="34" charset="-120"/>
              </a:rPr>
              <a:t>154k fixtures</a:t>
            </a:r>
            <a:pPr indent="0" marL="0">
              <a:buNone/>
            </a:pPr>
            <a:r>
              <a:rPr lang="en-US" sz="1050" dirty="0">
                <a:solidFill>
                  <a:srgbClr val="EEF3EE"/>
                </a:solidFill>
                <a:latin typeface="Arial" pitchFamily="34" charset="0"/>
                <a:ea typeface="Arial" pitchFamily="34" charset="-122"/>
                <a:cs typeface="Arial" pitchFamily="34" charset="-120"/>
              </a:rPr>
              <a:t> as nested JSONB, with a two-phase fetch to live inside a per-minute rate limit and a daily quota, hash dedup, and idempotent resume from checkpoint.</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Built from scratch as a </a:t>
            </a:r>
            <a:pPr indent="0" marL="0">
              <a:buNone/>
            </a:pPr>
            <a:r>
              <a:rPr lang="en-US" sz="1050" i="1" dirty="0">
                <a:solidFill>
                  <a:srgbClr val="EEF3EE"/>
                </a:solidFill>
                <a:latin typeface="Arial" pitchFamily="34" charset="0"/>
                <a:ea typeface="Arial" pitchFamily="34" charset="-122"/>
                <a:cs typeface="Arial" pitchFamily="34" charset="-120"/>
              </a:rPr>
              <a:t>disciplined rebuild of an earlier monolith</a:t>
            </a:r>
            <a:pPr indent="0" marL="0">
              <a:buNone/>
            </a:pPr>
            <a:r>
              <a:rPr lang="en-US" sz="1050" dirty="0">
                <a:solidFill>
                  <a:srgbClr val="EEF3EE"/>
                </a:solidFill>
                <a:latin typeface="Arial" pitchFamily="34" charset="0"/>
                <a:ea typeface="Arial" pitchFamily="34" charset="-122"/>
                <a:cs typeface="Arial" pitchFamily="34" charset="-120"/>
              </a:rPr>
              <a:t>.</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596189"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596189"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Python</a:t>
            </a:r>
            <a:endParaRPr lang="en-US" sz="750" dirty="0"/>
          </a:p>
        </p:txBody>
      </p:sp>
      <p:sp>
        <p:nvSpPr>
          <p:cNvPr id="14" name="Shape 11"/>
          <p:cNvSpPr/>
          <p:nvPr/>
        </p:nvSpPr>
        <p:spPr>
          <a:xfrm>
            <a:off x="6384341" y="1755648"/>
            <a:ext cx="1163117"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384341" y="1755648"/>
            <a:ext cx="1163117"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Postgres · JSONB</a:t>
            </a:r>
            <a:endParaRPr lang="en-US" sz="750" dirty="0"/>
          </a:p>
        </p:txBody>
      </p:sp>
      <p:sp>
        <p:nvSpPr>
          <p:cNvPr id="16" name="Shape 13"/>
          <p:cNvSpPr/>
          <p:nvPr/>
        </p:nvSpPr>
        <p:spPr>
          <a:xfrm>
            <a:off x="5715000" y="2057400"/>
            <a:ext cx="1106424"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5715000" y="2057400"/>
            <a:ext cx="110642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one-shot Docker</a:t>
            </a:r>
            <a:endParaRPr lang="en-US" sz="750" dirty="0"/>
          </a:p>
        </p:txBody>
      </p:sp>
      <p:sp>
        <p:nvSpPr>
          <p:cNvPr id="18" name="Shape 15"/>
          <p:cNvSpPr/>
          <p:nvPr/>
        </p:nvSpPr>
        <p:spPr>
          <a:xfrm>
            <a:off x="6894576" y="2057400"/>
            <a:ext cx="1219810"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6894576" y="2057400"/>
            <a:ext cx="1219810"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checkpoint resume</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E0553F"/>
          </a:solidFill>
          <a:ln w="12700">
            <a:solidFill>
              <a:srgbClr val="E0553F"/>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The matcher's API-Football projection is a rolling window. A fixture that resolved to team ids last week resolves to NULL today — and a plain MERGE wrote those NULLs over ids the warehouse already had. 3,226 fixtures blanked; nothing errored.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1:15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13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4 · SETTLEMENT</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SILVER SETTLEMENT ENGINE</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4,874 lines</a:t>
            </a:r>
            <a:pPr indent="0" marL="0">
              <a:buNone/>
            </a:pPr>
            <a:r>
              <a:rPr lang="en-US" sz="1050" dirty="0">
                <a:solidFill>
                  <a:srgbClr val="EEF3EE"/>
                </a:solidFill>
                <a:latin typeface="Arial" pitchFamily="34" charset="0"/>
                <a:ea typeface="Arial" pitchFamily="34" charset="-122"/>
                <a:cs typeface="Arial" pitchFamily="34" charset="-120"/>
              </a:rPr>
              <a:t> of resolvers that take a market, an outcome and a final score, and say won / lost / void — for every betradar market the books price.</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Period-resolved scores (1st half, 2nd half, match), a per-team form grain, and one rule that cost a debate: </a:t>
            </a:r>
            <a:pPr indent="0" marL="0">
              <a:buNone/>
            </a:pPr>
            <a:r>
              <a:rPr lang="en-US" sz="1050" b="1" dirty="0">
                <a:solidFill>
                  <a:srgbClr val="F2B33D"/>
                </a:solidFill>
                <a:latin typeface="Arial" pitchFamily="34" charset="0"/>
                <a:ea typeface="Arial" pitchFamily="34" charset="-122"/>
                <a:cs typeface="Arial" pitchFamily="34" charset="-120"/>
              </a:rPr>
              <a:t>"full" = regulation + extra time, never penalties</a:t>
            </a:r>
            <a:pPr indent="0" marL="0">
              <a:buNone/>
            </a:pPr>
            <a:r>
              <a:rPr lang="en-US" sz="1050" dirty="0">
                <a:solidFill>
                  <a:srgbClr val="EEF3EE"/>
                </a:solidFill>
                <a:latin typeface="Arial" pitchFamily="34" charset="0"/>
                <a:ea typeface="Arial" pitchFamily="34" charset="-122"/>
                <a:cs typeface="Arial" pitchFamily="34" charset="-120"/>
              </a:rPr>
              <a:t>.</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Vendored into the capstone and run at scale: </a:t>
            </a:r>
            <a:pPr indent="0" marL="0">
              <a:buNone/>
            </a:pPr>
            <a:r>
              <a:rPr lang="en-US" sz="1050" b="1" dirty="0">
                <a:solidFill>
                  <a:srgbClr val="F2B33D"/>
                </a:solidFill>
                <a:latin typeface="Arial" pitchFamily="34" charset="0"/>
                <a:ea typeface="Arial" pitchFamily="34" charset="-122"/>
                <a:cs typeface="Arial" pitchFamily="34" charset="-120"/>
              </a:rPr>
              <a:t>5.96M</a:t>
            </a:r>
            <a:pPr indent="0" marL="0">
              <a:buNone/>
            </a:pPr>
            <a:r>
              <a:rPr lang="en-US" sz="1050" dirty="0">
                <a:solidFill>
                  <a:srgbClr val="EEF3EE"/>
                </a:solidFill>
                <a:latin typeface="Arial" pitchFamily="34" charset="0"/>
                <a:ea typeface="Arial" pitchFamily="34" charset="-122"/>
                <a:cs typeface="Arial" pitchFamily="34" charset="-120"/>
              </a:rPr>
              <a:t> settled team-market rows.</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596189"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596189"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Python</a:t>
            </a:r>
            <a:endParaRPr lang="en-US" sz="750" dirty="0"/>
          </a:p>
        </p:txBody>
      </p:sp>
      <p:sp>
        <p:nvSpPr>
          <p:cNvPr id="14" name="Shape 11"/>
          <p:cNvSpPr/>
          <p:nvPr/>
        </p:nvSpPr>
        <p:spPr>
          <a:xfrm>
            <a:off x="6384341" y="1755648"/>
            <a:ext cx="1049731"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384341" y="1755648"/>
            <a:ext cx="1049731"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pure functions</a:t>
            </a:r>
            <a:endParaRPr lang="en-US" sz="750" dirty="0"/>
          </a:p>
        </p:txBody>
      </p:sp>
      <p:sp>
        <p:nvSpPr>
          <p:cNvPr id="16" name="Shape 13"/>
          <p:cNvSpPr/>
          <p:nvPr/>
        </p:nvSpPr>
        <p:spPr>
          <a:xfrm>
            <a:off x="7507224" y="1755648"/>
            <a:ext cx="709574"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7507224" y="1755648"/>
            <a:ext cx="70957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vendored</a:t>
            </a:r>
            <a:endParaRPr lang="en-US" sz="750" dirty="0"/>
          </a:p>
        </p:txBody>
      </p:sp>
      <p:sp>
        <p:nvSpPr>
          <p:cNvPr id="18" name="Shape 15"/>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19" name="Shape 16"/>
          <p:cNvSpPr/>
          <p:nvPr/>
        </p:nvSpPr>
        <p:spPr>
          <a:xfrm>
            <a:off x="5696712" y="2788920"/>
            <a:ext cx="118872" cy="118872"/>
          </a:xfrm>
          <a:prstGeom prst="ellipse">
            <a:avLst/>
          </a:prstGeom>
          <a:solidFill>
            <a:srgbClr val="5DBE8A"/>
          </a:solidFill>
          <a:ln w="12700">
            <a:solidFill>
              <a:srgbClr val="5DBE8A"/>
            </a:solidFill>
            <a:prstDash val="solid"/>
          </a:ln>
        </p:spPr>
      </p:sp>
      <p:sp>
        <p:nvSpPr>
          <p:cNvPr id="20" name="Text 17"/>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5DBE8A"/>
                </a:solidFill>
                <a:latin typeface="Courier New" pitchFamily="34" charset="0"/>
                <a:ea typeface="Courier New" pitchFamily="34" charset="-122"/>
                <a:cs typeface="Courier New" pitchFamily="34" charset="-120"/>
              </a:rPr>
              <a:t>LOUDLY WRONG — THE CHEAP KIND</a:t>
            </a:r>
            <a:endParaRPr lang="en-US" sz="800" dirty="0"/>
          </a:p>
        </p:txBody>
      </p:sp>
      <p:sp>
        <p:nvSpPr>
          <p:cNvPr id="21" name="Text 18"/>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The engine wants ft/aet; the ingestor stores FT/AET. It refused all 87,600 rows as unknown_status. Annoying, obvious, fixed in minutes. Compare that to the slide before.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14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5 · STREAMING</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KAFKA FAN-OUT: ONE SNAPSHOT, TWO DETECTORS</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The producer reads each book's latest payload, parses it through the </a:t>
            </a:r>
            <a:pPr indent="0" marL="0">
              <a:buNone/>
            </a:pPr>
            <a:r>
              <a:rPr lang="en-US" sz="1050" b="1" dirty="0">
                <a:solidFill>
                  <a:srgbClr val="F2B33D"/>
                </a:solidFill>
                <a:latin typeface="Arial" pitchFamily="34" charset="0"/>
                <a:ea typeface="Arial" pitchFamily="34" charset="-122"/>
                <a:cs typeface="Arial" pitchFamily="34" charset="-120"/>
              </a:rPr>
              <a:t>market crosswalk</a:t>
            </a:r>
            <a:pPr indent="0" marL="0">
              <a:buNone/>
            </a:pPr>
            <a:r>
              <a:rPr lang="en-US" sz="1050" dirty="0">
                <a:solidFill>
                  <a:srgbClr val="EEF3EE"/>
                </a:solidFill>
                <a:latin typeface="Arial" pitchFamily="34" charset="0"/>
                <a:ea typeface="Arial" pitchFamily="34" charset="-122"/>
                <a:cs typeface="Arial" pitchFamily="34" charset="-120"/>
              </a:rPr>
              <a:t> (bet9ja and livescorebet speak their own dialects; three books are betradar-native) and publishes </a:t>
            </a:r>
            <a:pPr indent="0" marL="0">
              <a:buNone/>
            </a:pPr>
            <a:r>
              <a:rPr lang="en-US" sz="1050" b="1" dirty="0">
                <a:solidFill>
                  <a:srgbClr val="F2B33D"/>
                </a:solidFill>
                <a:latin typeface="Arial" pitchFamily="34" charset="0"/>
                <a:ea typeface="Arial" pitchFamily="34" charset="-122"/>
                <a:cs typeface="Arial" pitchFamily="34" charset="-120"/>
              </a:rPr>
              <a:t>one fixture snapshot per message</a:t>
            </a:r>
            <a:pPr indent="0" marL="0">
              <a:buNone/>
            </a:pPr>
            <a:r>
              <a:rPr lang="en-US" sz="1050" dirty="0">
                <a:solidFill>
                  <a:srgbClr val="EEF3EE"/>
                </a:solidFill>
                <a:latin typeface="Arial" pitchFamily="34" charset="0"/>
                <a:ea typeface="Arial" pitchFamily="34" charset="-122"/>
                <a:cs typeface="Arial" pitchFamily="34" charset="-120"/>
              </a:rPr>
              <a:t>, keyed by event id.</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Two consumers in </a:t>
            </a:r>
            <a:pPr indent="0" marL="0">
              <a:buNone/>
            </a:pPr>
            <a:r>
              <a:rPr lang="en-US" sz="1050" b="1" dirty="0">
                <a:solidFill>
                  <a:srgbClr val="F2B33D"/>
                </a:solidFill>
                <a:latin typeface="Arial" pitchFamily="34" charset="0"/>
                <a:ea typeface="Arial" pitchFamily="34" charset="-122"/>
                <a:cs typeface="Arial" pitchFamily="34" charset="-120"/>
              </a:rPr>
              <a:t>separate consumer groups</a:t>
            </a:r>
            <a:pPr indent="0" marL="0">
              <a:buNone/>
            </a:pPr>
            <a:r>
              <a:rPr lang="en-US" sz="1050" dirty="0">
                <a:solidFill>
                  <a:srgbClr val="EEF3EE"/>
                </a:solidFill>
                <a:latin typeface="Arial" pitchFamily="34" charset="0"/>
                <a:ea typeface="Arial" pitchFamily="34" charset="-122"/>
                <a:cs typeface="Arial" pitchFamily="34" charset="-120"/>
              </a:rPr>
              <a:t>: arbitrage (1 / Σ(1 / best odds)) and positive-EV (price vs a published probability).</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At-least-once: offsets commit after the write, and a </a:t>
            </a:r>
            <a:pPr indent="0" marL="0">
              <a:buNone/>
            </a:pPr>
            <a:r>
              <a:rPr lang="en-US" sz="1050" b="1" dirty="0">
                <a:solidFill>
                  <a:srgbClr val="F2B33D"/>
                </a:solidFill>
                <a:latin typeface="Arial" pitchFamily="34" charset="0"/>
                <a:ea typeface="Arial" pitchFamily="34" charset="-122"/>
                <a:cs typeface="Arial" pitchFamily="34" charset="-120"/>
              </a:rPr>
              <a:t>MERGE on signal_key</a:t>
            </a:r>
            <a:pPr indent="0" marL="0">
              <a:buNone/>
            </a:pPr>
            <a:r>
              <a:rPr lang="en-US" sz="1050" dirty="0">
                <a:solidFill>
                  <a:srgbClr val="EEF3EE"/>
                </a:solidFill>
                <a:latin typeface="Arial" pitchFamily="34" charset="0"/>
                <a:ea typeface="Arial" pitchFamily="34" charset="-122"/>
                <a:cs typeface="Arial" pitchFamily="34" charset="-120"/>
              </a:rPr>
              <a:t> absorbs any replay.</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709574"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709574"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Redpanda</a:t>
            </a:r>
            <a:endParaRPr lang="en-US" sz="750" dirty="0"/>
          </a:p>
        </p:txBody>
      </p:sp>
      <p:sp>
        <p:nvSpPr>
          <p:cNvPr id="14" name="Shape 11"/>
          <p:cNvSpPr/>
          <p:nvPr/>
        </p:nvSpPr>
        <p:spPr>
          <a:xfrm>
            <a:off x="6497726" y="1755648"/>
            <a:ext cx="1106424"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497726" y="1755648"/>
            <a:ext cx="110642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confluent-kafka</a:t>
            </a:r>
            <a:endParaRPr lang="en-US" sz="750" dirty="0"/>
          </a:p>
        </p:txBody>
      </p:sp>
      <p:sp>
        <p:nvSpPr>
          <p:cNvPr id="16" name="Shape 13"/>
          <p:cNvSpPr/>
          <p:nvPr/>
        </p:nvSpPr>
        <p:spPr>
          <a:xfrm>
            <a:off x="5715000" y="2057400"/>
            <a:ext cx="1163117"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5715000" y="2057400"/>
            <a:ext cx="1163117"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pandas crosswalk</a:t>
            </a:r>
            <a:endParaRPr lang="en-US" sz="750" dirty="0"/>
          </a:p>
        </p:txBody>
      </p:sp>
      <p:sp>
        <p:nvSpPr>
          <p:cNvPr id="18" name="Shape 15"/>
          <p:cNvSpPr/>
          <p:nvPr/>
        </p:nvSpPr>
        <p:spPr>
          <a:xfrm>
            <a:off x="6951269" y="2057400"/>
            <a:ext cx="539496"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6951269" y="2057400"/>
            <a:ext cx="53949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MERGE</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E0553F"/>
          </a:solidFill>
          <a:ln w="12700">
            <a:solidFill>
              <a:srgbClr val="E0553F"/>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Measure a parser fix against messages produced before the fix and you measure the old parser. Three investigations were misled in one session. Rule: change parser → delete topic → delete groups → re-produce → then measure.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15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5B · FRESHNESS</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THE WATCHER: RECOMPUTE THE MOMENT PRICES LAND</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Polls bronze every </a:t>
            </a:r>
            <a:pPr indent="0" marL="0">
              <a:buNone/>
            </a:pPr>
            <a:r>
              <a:rPr lang="en-US" sz="1050" b="1" dirty="0">
                <a:solidFill>
                  <a:srgbClr val="F2B33D"/>
                </a:solidFill>
                <a:latin typeface="Arial" pitchFamily="34" charset="0"/>
                <a:ea typeface="Arial" pitchFamily="34" charset="-122"/>
                <a:cs typeface="Arial" pitchFamily="34" charset="-120"/>
              </a:rPr>
              <a:t>20 s</a:t>
            </a:r>
            <a:pPr indent="0" marL="0">
              <a:buNone/>
            </a:pPr>
            <a:r>
              <a:rPr lang="en-US" sz="1050" dirty="0">
                <a:solidFill>
                  <a:srgbClr val="EEF3EE"/>
                </a:solidFill>
                <a:latin typeface="Arial" pitchFamily="34" charset="0"/>
                <a:ea typeface="Arial" pitchFamily="34" charset="-122"/>
                <a:cs typeface="Arial" pitchFamily="34" charset="-120"/>
              </a:rPr>
              <a:t> for the newest write per upcoming fixture; any fixture whose prices moved is re-run through the same snapshot → arbitrage/EV code the consumers use, and MERGEd on the same key — so the two paths converge.</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Pre-kickoff only.</a:t>
            </a:r>
            <a:pPr indent="0" marL="0">
              <a:buNone/>
            </a:pPr>
            <a:r>
              <a:rPr lang="en-US" sz="1050" dirty="0">
                <a:solidFill>
                  <a:srgbClr val="EEF3EE"/>
                </a:solidFill>
                <a:latin typeface="Arial" pitchFamily="34" charset="0"/>
                <a:ea typeface="Arial" pitchFamily="34" charset="-122"/>
                <a:cs typeface="Arial" pitchFamily="34" charset="-120"/>
              </a:rPr>
              <a:t> A bet must still be placeable, and an in-play match is a payload storm.</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Snowflake is touched only to write.</a:t>
            </a:r>
            <a:pPr indent="0" marL="0">
              <a:buNone/>
            </a:pPr>
            <a:r>
              <a:rPr lang="en-US" sz="1050" dirty="0">
                <a:solidFill>
                  <a:srgbClr val="EEF3EE"/>
                </a:solidFill>
                <a:latin typeface="Arial" pitchFamily="34" charset="0"/>
                <a:ea typeface="Arial" pitchFamily="34" charset="-122"/>
                <a:cs typeface="Arial" pitchFamily="34" charset="-120"/>
              </a:rPr>
              <a:t> No opportunity, no statement, no credits.</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879653"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879653"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Python loop</a:t>
            </a:r>
            <a:endParaRPr lang="en-US" sz="750" dirty="0"/>
          </a:p>
        </p:txBody>
      </p:sp>
      <p:sp>
        <p:nvSpPr>
          <p:cNvPr id="14" name="Shape 11"/>
          <p:cNvSpPr/>
          <p:nvPr/>
        </p:nvSpPr>
        <p:spPr>
          <a:xfrm>
            <a:off x="6667805" y="1755648"/>
            <a:ext cx="1559966"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667805" y="1755648"/>
            <a:ext cx="155996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Postgres · indexed poll</a:t>
            </a:r>
            <a:endParaRPr lang="en-US" sz="750" dirty="0"/>
          </a:p>
        </p:txBody>
      </p:sp>
      <p:sp>
        <p:nvSpPr>
          <p:cNvPr id="16" name="Shape 13"/>
          <p:cNvSpPr/>
          <p:nvPr/>
        </p:nvSpPr>
        <p:spPr>
          <a:xfrm>
            <a:off x="5715000" y="2057400"/>
            <a:ext cx="1106424"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5715000" y="2057400"/>
            <a:ext cx="110642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Snowflake MERGE</a:t>
            </a:r>
            <a:endParaRPr lang="en-US" sz="750" dirty="0"/>
          </a:p>
        </p:txBody>
      </p:sp>
      <p:sp>
        <p:nvSpPr>
          <p:cNvPr id="18" name="Shape 15"/>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19" name="Shape 16"/>
          <p:cNvSpPr/>
          <p:nvPr/>
        </p:nvSpPr>
        <p:spPr>
          <a:xfrm>
            <a:off x="5696712" y="2788920"/>
            <a:ext cx="118872" cy="118872"/>
          </a:xfrm>
          <a:prstGeom prst="ellipse">
            <a:avLst/>
          </a:prstGeom>
          <a:solidFill>
            <a:srgbClr val="E0553F"/>
          </a:solidFill>
          <a:ln w="12700">
            <a:solidFill>
              <a:srgbClr val="E0553F"/>
            </a:solidFill>
            <a:prstDash val="solid"/>
          </a:ln>
        </p:spPr>
      </p:sp>
      <p:sp>
        <p:nvSpPr>
          <p:cNvPr id="20" name="Text 17"/>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NEARLY WRONG, CAUGHT IN THE LOG</a:t>
            </a:r>
            <a:endParaRPr lang="en-US" sz="800" dirty="0"/>
          </a:p>
        </p:txBody>
      </p:sp>
      <p:sp>
        <p:nvSpPr>
          <p:cNvPr id="21" name="Text 18"/>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First run: a 3-day window = 1,368 fixtures, and the poll became a 40-second seq scan of the 6.9M-row table. A 6-hour window and an indexed key: under a second. Then it primed a baseline instead of recomputing 1,300 fixtures the DAG already covered.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16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6 · BATCH</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FLATTEN WITH SPARK, SETTLE IN PYTHON</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flatten:</a:t>
            </a:r>
            <a:pPr indent="0" marL="0">
              <a:buNone/>
            </a:pPr>
            <a:r>
              <a:rPr lang="en-US" sz="1050" dirty="0">
                <a:solidFill>
                  <a:srgbClr val="EEF3EE"/>
                </a:solidFill>
                <a:latin typeface="Arial" pitchFamily="34" charset="0"/>
                <a:ea typeface="Arial" pitchFamily="34" charset="-122"/>
                <a:cs typeface="Arial" pitchFamily="34" charset="-120"/>
              </a:rPr>
              <a:t> 154k nested-JSONB fixtures → </a:t>
            </a:r>
            <a:pPr indent="0" marL="0">
              <a:buNone/>
            </a:pPr>
            <a:r>
              <a:rPr lang="en-US" sz="1050" b="1" dirty="0">
                <a:solidFill>
                  <a:srgbClr val="F2B33D"/>
                </a:solidFill>
                <a:latin typeface="Arial" pitchFamily="34" charset="0"/>
                <a:ea typeface="Arial" pitchFamily="34" charset="-122"/>
                <a:cs typeface="Arial" pitchFamily="34" charset="-120"/>
              </a:rPr>
              <a:t>298k</a:t>
            </a:r>
            <a:pPr indent="0" marL="0">
              <a:buNone/>
            </a:pPr>
            <a:r>
              <a:rPr lang="en-US" sz="1050" dirty="0">
                <a:solidFill>
                  <a:srgbClr val="EEF3EE"/>
                </a:solidFill>
                <a:latin typeface="Arial" pitchFamily="34" charset="0"/>
                <a:ea typeface="Arial" pitchFamily="34" charset="-122"/>
                <a:cs typeface="Arial" pitchFamily="34" charset="-120"/>
              </a:rPr>
              <a:t> wide team-match rows: period scores, xG, shots, corners, possession, passes. JDBC partitioned reads, from_json with a partial schema, pivot, self-join.</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settle:</a:t>
            </a:r>
            <a:pPr indent="0" marL="0">
              <a:buNone/>
            </a:pPr>
            <a:r>
              <a:rPr lang="en-US" sz="1050" dirty="0">
                <a:solidFill>
                  <a:srgbClr val="EEF3EE"/>
                </a:solidFill>
                <a:latin typeface="Arial" pitchFamily="34" charset="0"/>
                <a:ea typeface="Arial" pitchFamily="34" charset="-122"/>
                <a:cs typeface="Arial" pitchFamily="34" charset="-120"/>
              </a:rPr>
              <a:t> every team-match row × every market the books price, through the vendored engine → </a:t>
            </a:r>
            <a:pPr indent="0" marL="0">
              <a:buNone/>
            </a:pPr>
            <a:r>
              <a:rPr lang="en-US" sz="1050" b="1" dirty="0">
                <a:solidFill>
                  <a:srgbClr val="F2B33D"/>
                </a:solidFill>
                <a:latin typeface="Arial" pitchFamily="34" charset="0"/>
                <a:ea typeface="Arial" pitchFamily="34" charset="-122"/>
                <a:cs typeface="Arial" pitchFamily="34" charset="-120"/>
              </a:rPr>
              <a:t>5.96M</a:t>
            </a:r>
            <a:pPr indent="0" marL="0">
              <a:buNone/>
            </a:pPr>
            <a:r>
              <a:rPr lang="en-US" sz="1050" dirty="0">
                <a:solidFill>
                  <a:srgbClr val="EEF3EE"/>
                </a:solidFill>
                <a:latin typeface="Arial" pitchFamily="34" charset="0"/>
                <a:ea typeface="Arial" pitchFamily="34" charset="-122"/>
                <a:cs typeface="Arial" pitchFamily="34" charset="-120"/>
              </a:rPr>
              <a:t> results. </a:t>
            </a:r>
            <a:pPr indent="0" marL="0">
              <a:buNone/>
            </a:pPr>
            <a:r>
              <a:rPr lang="en-US" sz="1050" i="1" dirty="0">
                <a:solidFill>
                  <a:srgbClr val="EEF3EE"/>
                </a:solidFill>
                <a:latin typeface="Arial" pitchFamily="34" charset="0"/>
                <a:ea typeface="Arial" pitchFamily="34" charset="-122"/>
                <a:cs typeface="Arial" pitchFamily="34" charset="-120"/>
              </a:rPr>
              <a:t>Not a Spark job</a:t>
            </a:r>
            <a:pPr indent="0" marL="0">
              <a:buNone/>
            </a:pPr>
            <a:r>
              <a:rPr lang="en-US" sz="1050" dirty="0">
                <a:solidFill>
                  <a:srgbClr val="EEF3EE"/>
                </a:solidFill>
                <a:latin typeface="Arial" pitchFamily="34" charset="0"/>
                <a:ea typeface="Arial" pitchFamily="34" charset="-122"/>
                <a:cs typeface="Arial" pitchFamily="34" charset="-120"/>
              </a:rPr>
              <a:t> -- the input is already flat, so it is a Python loop over Snowflake.</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Incremental in the DAG (FLATTEN_SINCE_DAYS=3); the full backfill is an 80-minute, 505 MB scan.</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879653"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879653"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PySpark 4.2</a:t>
            </a:r>
            <a:endParaRPr lang="en-US" sz="750" dirty="0"/>
          </a:p>
        </p:txBody>
      </p:sp>
      <p:sp>
        <p:nvSpPr>
          <p:cNvPr id="14" name="Shape 11"/>
          <p:cNvSpPr/>
          <p:nvPr/>
        </p:nvSpPr>
        <p:spPr>
          <a:xfrm>
            <a:off x="6667805" y="1755648"/>
            <a:ext cx="596189"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667805" y="1755648"/>
            <a:ext cx="596189"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JDK 17</a:t>
            </a:r>
            <a:endParaRPr lang="en-US" sz="750" dirty="0"/>
          </a:p>
        </p:txBody>
      </p:sp>
      <p:sp>
        <p:nvSpPr>
          <p:cNvPr id="16" name="Shape 13"/>
          <p:cNvSpPr/>
          <p:nvPr/>
        </p:nvSpPr>
        <p:spPr>
          <a:xfrm>
            <a:off x="5715000" y="2057400"/>
            <a:ext cx="1389888"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5715000" y="2057400"/>
            <a:ext cx="1389888"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settle: plain Python</a:t>
            </a:r>
            <a:endParaRPr lang="en-US" sz="750" dirty="0"/>
          </a:p>
        </p:txBody>
      </p:sp>
      <p:sp>
        <p:nvSpPr>
          <p:cNvPr id="18" name="Shape 15"/>
          <p:cNvSpPr/>
          <p:nvPr/>
        </p:nvSpPr>
        <p:spPr>
          <a:xfrm>
            <a:off x="5715000" y="2359152"/>
            <a:ext cx="1673352"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5715000" y="2359152"/>
            <a:ext cx="1673352"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runs in the Airflow image</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5DBE8A"/>
          </a:solidFill>
          <a:ln w="12700">
            <a:solidFill>
              <a:srgbClr val="5DBE8A"/>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5DBE8A"/>
                </a:solidFill>
                <a:latin typeface="Courier New" pitchFamily="34" charset="0"/>
                <a:ea typeface="Courier New" pitchFamily="34" charset="-122"/>
                <a:cs typeface="Courier New" pitchFamily="34" charset="-120"/>
              </a:rPr>
              <a:t>LOUDLY WRONG — BUT EXPENSIVELY</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One fixture in 153,386 had no score. A NOT NULL failed the write — after 80 minutes. Two such runs were lost. Rule now: prove a long job on a 3,000-row bound before running it whole.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17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7 · WAREHOUSE</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SNOWFLAKE: A MEDALLION WITH TWO OWNERS</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CORE</a:t>
            </a:r>
            <a:pPr indent="0" marL="0">
              <a:buNone/>
            </a:pPr>
            <a:r>
              <a:rPr lang="en-US" sz="1050" dirty="0">
                <a:solidFill>
                  <a:srgbClr val="EEF3EE"/>
                </a:solidFill>
                <a:latin typeface="Arial" pitchFamily="34" charset="0"/>
                <a:ea typeface="Arial" pitchFamily="34" charset="-122"/>
                <a:cs typeface="Arial" pitchFamily="34" charset="-120"/>
              </a:rPr>
              <a:t> is task-written (consumers, Spark, the LLM tasks); </a:t>
            </a:r>
            <a:pPr indent="0" marL="0">
              <a:buNone/>
            </a:pPr>
            <a:r>
              <a:rPr lang="en-US" sz="1050" b="1" dirty="0">
                <a:solidFill>
                  <a:srgbClr val="F2B33D"/>
                </a:solidFill>
                <a:latin typeface="Arial" pitchFamily="34" charset="0"/>
                <a:ea typeface="Arial" pitchFamily="34" charset="-122"/>
                <a:cs typeface="Arial" pitchFamily="34" charset="-120"/>
              </a:rPr>
              <a:t>ANALYTICS</a:t>
            </a:r>
            <a:pPr indent="0" marL="0">
              <a:buNone/>
            </a:pPr>
            <a:r>
              <a:rPr lang="en-US" sz="1050" dirty="0">
                <a:solidFill>
                  <a:srgbClr val="EEF3EE"/>
                </a:solidFill>
                <a:latin typeface="Arial" pitchFamily="34" charset="0"/>
                <a:ea typeface="Arial" pitchFamily="34" charset="-122"/>
                <a:cs typeface="Arial" pitchFamily="34" charset="-120"/>
              </a:rPr>
              <a:t> is dbt-written. A dbt full-refresh can never drop something a task paid an API call for.</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Snowflake enforces </a:t>
            </a:r>
            <a:pPr indent="0" marL="0">
              <a:buNone/>
            </a:pPr>
            <a:r>
              <a:rPr lang="en-US" sz="1050" b="1" dirty="0">
                <a:solidFill>
                  <a:srgbClr val="F2B33D"/>
                </a:solidFill>
                <a:latin typeface="Arial" pitchFamily="34" charset="0"/>
                <a:ea typeface="Arial" pitchFamily="34" charset="-122"/>
                <a:cs typeface="Arial" pitchFamily="34" charset="-120"/>
              </a:rPr>
              <a:t>NOT NULL and nothing else</a:t>
            </a:r>
            <a:pPr indent="0" marL="0">
              <a:buNone/>
            </a:pPr>
            <a:r>
              <a:rPr lang="en-US" sz="1050" dirty="0">
                <a:solidFill>
                  <a:srgbClr val="EEF3EE"/>
                </a:solidFill>
                <a:latin typeface="Arial" pitchFamily="34" charset="0"/>
                <a:ea typeface="Arial" pitchFamily="34" charset="-122"/>
                <a:cs typeface="Arial" pitchFamily="34" charset="-120"/>
              </a:rPr>
              <a:t> — PRIMARY KEY is documentation. So every write is a MERGE on a natural key, and re-running anything converges.</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Loads stage through write_pandas + one MERGE after a row-at-a-time loader died at 446 of 4,527 rows and left the table silently partial.</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766267"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766267"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Snowflake</a:t>
            </a:r>
            <a:endParaRPr lang="en-US" sz="750" dirty="0"/>
          </a:p>
        </p:txBody>
      </p:sp>
      <p:sp>
        <p:nvSpPr>
          <p:cNvPr id="14" name="Shape 11"/>
          <p:cNvSpPr/>
          <p:nvPr/>
        </p:nvSpPr>
        <p:spPr>
          <a:xfrm>
            <a:off x="6554419" y="1755648"/>
            <a:ext cx="539496"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554419" y="1755648"/>
            <a:ext cx="53949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MERGE</a:t>
            </a:r>
            <a:endParaRPr lang="en-US" sz="750" dirty="0"/>
          </a:p>
        </p:txBody>
      </p:sp>
      <p:sp>
        <p:nvSpPr>
          <p:cNvPr id="16" name="Shape 13"/>
          <p:cNvSpPr/>
          <p:nvPr/>
        </p:nvSpPr>
        <p:spPr>
          <a:xfrm>
            <a:off x="7167067" y="1755648"/>
            <a:ext cx="936346"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7167067" y="1755648"/>
            <a:ext cx="93634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write_pandas</a:t>
            </a:r>
            <a:endParaRPr lang="en-US" sz="750" dirty="0"/>
          </a:p>
        </p:txBody>
      </p:sp>
      <p:sp>
        <p:nvSpPr>
          <p:cNvPr id="18" name="Shape 15"/>
          <p:cNvSpPr/>
          <p:nvPr/>
        </p:nvSpPr>
        <p:spPr>
          <a:xfrm>
            <a:off x="5715000" y="2057400"/>
            <a:ext cx="936346" cy="246888"/>
          </a:xfrm>
          <a:prstGeom prst="roundRect">
            <a:avLst>
              <a:gd name="adj" fmla="val 14815"/>
            </a:avLst>
          </a:prstGeom>
          <a:solidFill>
            <a:srgbClr val="16241F"/>
          </a:solidFill>
          <a:ln w="9525">
            <a:solidFill>
              <a:srgbClr val="2A3D34"/>
            </a:solidFill>
            <a:prstDash val="solid"/>
          </a:ln>
        </p:spPr>
      </p:sp>
      <p:sp>
        <p:nvSpPr>
          <p:cNvPr id="19" name="Text 16"/>
          <p:cNvSpPr txBox="1"/>
          <p:nvPr/>
        </p:nvSpPr>
        <p:spPr>
          <a:xfrm>
            <a:off x="5715000" y="2057400"/>
            <a:ext cx="936346"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TIMESTAMP_TZ</a:t>
            </a:r>
            <a:endParaRPr lang="en-US" sz="750" dirty="0"/>
          </a:p>
        </p:txBody>
      </p:sp>
      <p:sp>
        <p:nvSpPr>
          <p:cNvPr id="20" name="Shape 17"/>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21" name="Shape 18"/>
          <p:cNvSpPr/>
          <p:nvPr/>
        </p:nvSpPr>
        <p:spPr>
          <a:xfrm>
            <a:off x="5696712" y="2788920"/>
            <a:ext cx="118872" cy="118872"/>
          </a:xfrm>
          <a:prstGeom prst="ellipse">
            <a:avLst/>
          </a:prstGeom>
          <a:solidFill>
            <a:srgbClr val="E0553F"/>
          </a:solidFill>
          <a:ln w="12700">
            <a:solidFill>
              <a:srgbClr val="E0553F"/>
            </a:solidFill>
            <a:prstDash val="solid"/>
          </a:ln>
        </p:spPr>
      </p:sp>
      <p:sp>
        <p:nvSpPr>
          <p:cNvPr id="22" name="Text 19"/>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3" name="Text 20"/>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Session TIMEZONE defaults to America/Los_Angeles, and TIMESTAMP_TZ keeps the writer's offset forever. Every instant was correct; every kick-off printed nine hours early. An evening Ligue 1 match at 11:45.</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18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8 · TRANSFORMATION</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DBT: THE MODELS, AND THE TESTS THAT EARN THEIR KEEP</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8 models</a:t>
            </a:r>
            <a:pPr indent="0" marL="0">
              <a:buNone/>
            </a:pPr>
            <a:r>
              <a:rPr lang="en-US" sz="1050" dirty="0">
                <a:solidFill>
                  <a:srgbClr val="EEF3EE"/>
                </a:solidFill>
                <a:latin typeface="Arial" pitchFamily="34" charset="0"/>
                <a:ea typeface="Arial" pitchFamily="34" charset="-122"/>
                <a:cs typeface="Arial" pitchFamily="34" charset="-120"/>
              </a:rPr>
              <a:t>: staging views over the facts, gold tables for market efficiency and slip-leg history, an observed-outcome-label model built from what the books themselves publish.</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30 tests</a:t>
            </a:r>
            <a:pPr indent="0" marL="0">
              <a:buNone/>
            </a:pPr>
            <a:r>
              <a:rPr lang="en-US" sz="1050" dirty="0">
                <a:solidFill>
                  <a:srgbClr val="EEF3EE"/>
                </a:solidFill>
                <a:latin typeface="Arial" pitchFamily="34" charset="0"/>
                <a:ea typeface="Arial" pitchFamily="34" charset="-122"/>
                <a:cs typeface="Arial" pitchFamily="34" charset="-120"/>
              </a:rPr>
              <a:t>, four of them singular and written after a bug: </a:t>
            </a:r>
            <a:pPr indent="0" marL="0">
              <a:buNone/>
            </a:pPr>
            <a:r>
              <a:rPr lang="en-US" sz="1050" i="1" dirty="0">
                <a:solidFill>
                  <a:srgbClr val="EEF3EE"/>
                </a:solidFill>
                <a:latin typeface="Arial" pitchFamily="34" charset="0"/>
                <a:ea typeface="Arial" pitchFamily="34" charset="-122"/>
                <a:cs typeface="Arial" pitchFamily="34" charset="-120"/>
              </a:rPr>
              <a:t>arbitrage is physically plausible, slip legs are unique, odds are real prices, gold is not empty</a:t>
            </a:r>
            <a:pPr indent="0" marL="0">
              <a:buNone/>
            </a:pPr>
            <a:r>
              <a:rPr lang="en-US" sz="1050" dirty="0">
                <a:solidFill>
                  <a:srgbClr val="EEF3EE"/>
                </a:solidFill>
                <a:latin typeface="Arial" pitchFamily="34" charset="0"/>
                <a:ea typeface="Arial" pitchFamily="34" charset="-122"/>
                <a:cs typeface="Arial" pitchFamily="34" charset="-120"/>
              </a:rPr>
              <a:t>.</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on-run-start pins the session timezone; QUALIFY dedups every append-only source before it is joined.</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993038"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993038"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dbt-snowflake</a:t>
            </a:r>
            <a:endParaRPr lang="en-US" sz="750" dirty="0"/>
          </a:p>
        </p:txBody>
      </p:sp>
      <p:sp>
        <p:nvSpPr>
          <p:cNvPr id="14" name="Shape 11"/>
          <p:cNvSpPr/>
          <p:nvPr/>
        </p:nvSpPr>
        <p:spPr>
          <a:xfrm>
            <a:off x="6781190" y="1755648"/>
            <a:ext cx="1049731"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6781190" y="1755648"/>
            <a:ext cx="1049731"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singular tests</a:t>
            </a:r>
            <a:endParaRPr lang="en-US" sz="750" dirty="0"/>
          </a:p>
        </p:txBody>
      </p:sp>
      <p:sp>
        <p:nvSpPr>
          <p:cNvPr id="16" name="Shape 13"/>
          <p:cNvSpPr/>
          <p:nvPr/>
        </p:nvSpPr>
        <p:spPr>
          <a:xfrm>
            <a:off x="7904074" y="1755648"/>
            <a:ext cx="596189"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7904074" y="1755648"/>
            <a:ext cx="596189"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macros</a:t>
            </a:r>
            <a:endParaRPr lang="en-US" sz="750" dirty="0"/>
          </a:p>
        </p:txBody>
      </p:sp>
      <p:sp>
        <p:nvSpPr>
          <p:cNvPr id="18" name="Shape 15"/>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19" name="Shape 16"/>
          <p:cNvSpPr/>
          <p:nvPr/>
        </p:nvSpPr>
        <p:spPr>
          <a:xfrm>
            <a:off x="5696712" y="2788920"/>
            <a:ext cx="118872" cy="118872"/>
          </a:xfrm>
          <a:prstGeom prst="ellipse">
            <a:avLst/>
          </a:prstGeom>
          <a:solidFill>
            <a:srgbClr val="E0553F"/>
          </a:solidFill>
          <a:ln w="12700">
            <a:solidFill>
              <a:srgbClr val="E0553F"/>
            </a:solidFill>
            <a:prstDash val="solid"/>
          </a:ln>
        </p:spPr>
      </p:sp>
      <p:sp>
        <p:nvSpPr>
          <p:cNvPr id="20" name="Text 17"/>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a:t>
            </a:r>
            <a:endParaRPr lang="en-US" sz="800" dirty="0"/>
          </a:p>
        </p:txBody>
      </p:sp>
      <p:sp>
        <p:nvSpPr>
          <p:cNvPr id="21" name="Text 18"/>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bronze_slip_payload is keyed on payload hash, so a slip re-fetched after losing a leg is stored again. 598 rows for 409 slips → 2,247 duplicated legs, fed to the LLM with repeats. Fix: read the table by the key it actually has.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1:45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19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9 · AI</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AN LLM THAT MAY USE NOTHING BUT OUR DATA</a:t>
            </a:r>
            <a:endParaRPr lang="en-US" sz="3400" dirty="0"/>
          </a:p>
        </p:txBody>
      </p:sp>
      <p:sp>
        <p:nvSpPr>
          <p:cNvPr id="7" name="Shape 4"/>
          <p:cNvSpPr/>
          <p:nvPr/>
        </p:nvSpPr>
        <p:spPr>
          <a:xfrm>
            <a:off x="457200" y="1371600"/>
            <a:ext cx="484632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448056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IT DOES</a:t>
            </a:r>
            <a:endParaRPr lang="en-US" sz="1400" dirty="0"/>
          </a:p>
        </p:txBody>
      </p:sp>
      <p:sp>
        <p:nvSpPr>
          <p:cNvPr id="9" name="Text 6"/>
          <p:cNvSpPr txBox="1"/>
          <p:nvPr/>
        </p:nvSpPr>
        <p:spPr>
          <a:xfrm>
            <a:off x="640080" y="1783080"/>
            <a:ext cx="4526280" cy="2743200"/>
          </a:xfrm>
          <a:prstGeom prst="rect">
            <a:avLst/>
          </a:prstGeom>
          <a:noFill/>
          <a:ln/>
        </p:spPr>
        <p:txBody>
          <a:bodyPr wrap="square" lIns="254" tIns="254" rIns="254" bIns="254" rtlCol="0" anchor="t"/>
          <a:lstStyle/>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Slip verdicts:</a:t>
            </a:r>
            <a:pPr indent="0" marL="0">
              <a:buNone/>
            </a:pPr>
            <a:r>
              <a:rPr lang="en-US" sz="1050" dirty="0">
                <a:solidFill>
                  <a:srgbClr val="EEF3EE"/>
                </a:solidFill>
                <a:latin typeface="Arial" pitchFamily="34" charset="0"/>
                <a:ea typeface="Arial" pitchFamily="34" charset="-122"/>
                <a:cs typeface="Arial" pitchFamily="34" charset="-120"/>
              </a:rPr>
              <a:t> every copied booking slip, leg by leg, with the price and how often that exact market has landed for that side. Opens with a bold sentence: </a:t>
            </a:r>
            <a:pPr indent="0" marL="0">
              <a:buNone/>
            </a:pPr>
            <a:r>
              <a:rPr lang="en-US" sz="1050" i="1" dirty="0">
                <a:solidFill>
                  <a:srgbClr val="EEF3EE"/>
                </a:solidFill>
                <a:latin typeface="Arial" pitchFamily="34" charset="0"/>
                <a:ea typeface="Arial" pitchFamily="34" charset="-122"/>
                <a:cs typeface="Arial" pitchFamily="34" charset="-120"/>
              </a:rPr>
              <a:t>"a 1-in-232 shot."</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Fixture briefs:</a:t>
            </a:r>
            <a:pPr indent="0" marL="0">
              <a:buNone/>
            </a:pPr>
            <a:r>
              <a:rPr lang="en-US" sz="1050" dirty="0">
                <a:solidFill>
                  <a:srgbClr val="EEF3EE"/>
                </a:solidFill>
                <a:latin typeface="Arial" pitchFamily="34" charset="0"/>
                <a:ea typeface="Arial" pitchFamily="34" charset="-122"/>
                <a:cs typeface="Arial" pitchFamily="34" charset="-120"/>
              </a:rPr>
              <a:t> three paragraphs — what the market thought, what both sides had been doing, where they disagree.</a:t>
            </a:r>
            <a:endParaRPr lang="en-US" sz="1050" dirty="0"/>
          </a:p>
          <a:p>
            <a:pPr marL="342900" indent="-342900">
              <a:spcAft>
                <a:spcPts val="400"/>
              </a:spcAft>
              <a:buSzPct val="100000"/>
              <a:buChar char="•"/>
            </a:pPr>
            <a:r>
              <a:rPr lang="en-US" sz="1050" b="1" dirty="0">
                <a:solidFill>
                  <a:srgbClr val="F2B33D"/>
                </a:solidFill>
                <a:latin typeface="Arial" pitchFamily="34" charset="0"/>
                <a:ea typeface="Arial" pitchFamily="34" charset="-122"/>
                <a:cs typeface="Arial" pitchFamily="34" charset="-120"/>
              </a:rPr>
              <a:t>All arithmetic in the warehouse.</a:t>
            </a:r>
            <a:pPr indent="0" marL="0">
              <a:buNone/>
            </a:pPr>
            <a:r>
              <a:rPr lang="en-US" sz="1050" dirty="0">
                <a:solidFill>
                  <a:srgbClr val="EEF3EE"/>
                </a:solidFill>
                <a:latin typeface="Arial" pitchFamily="34" charset="0"/>
                <a:ea typeface="Arial" pitchFamily="34" charset="-122"/>
                <a:cs typeface="Arial" pitchFamily="34" charset="-120"/>
              </a:rPr>
              <a:t> The model is handed finished numbers and forbidden from computing, from outside knowledge, and from reading "copied by 8,462" as a probability.</a:t>
            </a:r>
            <a:endParaRPr lang="en-US" sz="1050" dirty="0"/>
          </a:p>
          <a:p>
            <a:pPr marL="342900" indent="-342900">
              <a:spcAft>
                <a:spcPts val="400"/>
              </a:spcAft>
              <a:buSzPct val="100000"/>
              <a:buChar char="•"/>
            </a:pPr>
            <a:r>
              <a:rPr lang="en-US" sz="1050" dirty="0">
                <a:solidFill>
                  <a:srgbClr val="EEF3EE"/>
                </a:solidFill>
                <a:latin typeface="Arial" pitchFamily="34" charset="0"/>
                <a:ea typeface="Arial" pitchFamily="34" charset="-122"/>
                <a:cs typeface="Arial" pitchFamily="34" charset="-120"/>
              </a:rPr>
              <a:t>The cache key hashes the evidence, not just the subject.</a:t>
            </a:r>
            <a:endParaRPr lang="en-US" sz="1050" dirty="0"/>
          </a:p>
        </p:txBody>
      </p:sp>
      <p:sp>
        <p:nvSpPr>
          <p:cNvPr id="10" name="Shape 7"/>
          <p:cNvSpPr/>
          <p:nvPr/>
        </p:nvSpPr>
        <p:spPr>
          <a:xfrm>
            <a:off x="5532120" y="1371600"/>
            <a:ext cx="3154680" cy="1097280"/>
          </a:xfrm>
          <a:prstGeom prst="roundRect">
            <a:avLst>
              <a:gd name="adj" fmla="val 5000"/>
            </a:avLst>
          </a:prstGeom>
          <a:solidFill>
            <a:srgbClr val="16241F"/>
          </a:solidFill>
          <a:ln w="9525">
            <a:solidFill>
              <a:srgbClr val="2A3D34"/>
            </a:solidFill>
            <a:prstDash val="solid"/>
          </a:ln>
        </p:spPr>
      </p:sp>
      <p:sp>
        <p:nvSpPr>
          <p:cNvPr id="11" name="Text 8"/>
          <p:cNvSpPr txBox="1"/>
          <p:nvPr/>
        </p:nvSpPr>
        <p:spPr>
          <a:xfrm>
            <a:off x="5715000" y="1463040"/>
            <a:ext cx="28346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TOOLING</a:t>
            </a:r>
            <a:endParaRPr lang="en-US" sz="1400" dirty="0"/>
          </a:p>
        </p:txBody>
      </p:sp>
      <p:sp>
        <p:nvSpPr>
          <p:cNvPr id="12" name="Shape 9"/>
          <p:cNvSpPr/>
          <p:nvPr/>
        </p:nvSpPr>
        <p:spPr>
          <a:xfrm>
            <a:off x="5715000" y="1755648"/>
            <a:ext cx="1276502" cy="246888"/>
          </a:xfrm>
          <a:prstGeom prst="roundRect">
            <a:avLst>
              <a:gd name="adj" fmla="val 14815"/>
            </a:avLst>
          </a:prstGeom>
          <a:solidFill>
            <a:srgbClr val="16241F"/>
          </a:solidFill>
          <a:ln w="9525">
            <a:solidFill>
              <a:srgbClr val="F2B33D"/>
            </a:solidFill>
            <a:prstDash val="solid"/>
          </a:ln>
        </p:spPr>
      </p:sp>
      <p:sp>
        <p:nvSpPr>
          <p:cNvPr id="13" name="Text 10"/>
          <p:cNvSpPr txBox="1"/>
          <p:nvPr/>
        </p:nvSpPr>
        <p:spPr>
          <a:xfrm>
            <a:off x="5715000" y="1755648"/>
            <a:ext cx="1276502" cy="246888"/>
          </a:xfrm>
          <a:prstGeom prst="rect">
            <a:avLst/>
          </a:prstGeom>
          <a:noFill/>
          <a:ln/>
        </p:spPr>
        <p:txBody>
          <a:bodyPr wrap="square" lIns="0" tIns="0" rIns="0" bIns="0" rtlCol="0" anchor="ctr"/>
          <a:lstStyle/>
          <a:p>
            <a:pPr algn="ctr" indent="0" marL="0">
              <a:buNone/>
            </a:pPr>
            <a:r>
              <a:rPr lang="en-US" sz="750" dirty="0">
                <a:solidFill>
                  <a:srgbClr val="F2B33D"/>
                </a:solidFill>
                <a:latin typeface="Courier New" pitchFamily="34" charset="0"/>
                <a:ea typeface="Courier New" pitchFamily="34" charset="-122"/>
                <a:cs typeface="Courier New" pitchFamily="34" charset="-120"/>
              </a:rPr>
              <a:t>OpenAI gpt-4o-mini</a:t>
            </a:r>
            <a:endParaRPr lang="en-US" sz="750" dirty="0"/>
          </a:p>
        </p:txBody>
      </p:sp>
      <p:sp>
        <p:nvSpPr>
          <p:cNvPr id="14" name="Shape 11"/>
          <p:cNvSpPr/>
          <p:nvPr/>
        </p:nvSpPr>
        <p:spPr>
          <a:xfrm>
            <a:off x="5715000" y="2057400"/>
            <a:ext cx="1673352" cy="246888"/>
          </a:xfrm>
          <a:prstGeom prst="roundRect">
            <a:avLst>
              <a:gd name="adj" fmla="val 14815"/>
            </a:avLst>
          </a:prstGeom>
          <a:solidFill>
            <a:srgbClr val="16241F"/>
          </a:solidFill>
          <a:ln w="9525">
            <a:solidFill>
              <a:srgbClr val="2A3D34"/>
            </a:solidFill>
            <a:prstDash val="solid"/>
          </a:ln>
        </p:spPr>
      </p:sp>
      <p:sp>
        <p:nvSpPr>
          <p:cNvPr id="15" name="Text 12"/>
          <p:cNvSpPr txBox="1"/>
          <p:nvPr/>
        </p:nvSpPr>
        <p:spPr>
          <a:xfrm>
            <a:off x="5715000" y="2057400"/>
            <a:ext cx="1673352"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Cortex — blocked on trial</a:t>
            </a:r>
            <a:endParaRPr lang="en-US" sz="750" dirty="0"/>
          </a:p>
        </p:txBody>
      </p:sp>
      <p:sp>
        <p:nvSpPr>
          <p:cNvPr id="16" name="Shape 13"/>
          <p:cNvSpPr/>
          <p:nvPr/>
        </p:nvSpPr>
        <p:spPr>
          <a:xfrm>
            <a:off x="5715000" y="2359152"/>
            <a:ext cx="1106424" cy="246888"/>
          </a:xfrm>
          <a:prstGeom prst="roundRect">
            <a:avLst>
              <a:gd name="adj" fmla="val 14815"/>
            </a:avLst>
          </a:prstGeom>
          <a:solidFill>
            <a:srgbClr val="16241F"/>
          </a:solidFill>
          <a:ln w="9525">
            <a:solidFill>
              <a:srgbClr val="2A3D34"/>
            </a:solidFill>
            <a:prstDash val="solid"/>
          </a:ln>
        </p:spPr>
      </p:sp>
      <p:sp>
        <p:nvSpPr>
          <p:cNvPr id="17" name="Text 14"/>
          <p:cNvSpPr txBox="1"/>
          <p:nvPr/>
        </p:nvSpPr>
        <p:spPr>
          <a:xfrm>
            <a:off x="5715000" y="2359152"/>
            <a:ext cx="1106424" cy="246888"/>
          </a:xfrm>
          <a:prstGeom prst="rect">
            <a:avLst/>
          </a:prstGeom>
          <a:noFill/>
          <a:ln/>
        </p:spPr>
        <p:txBody>
          <a:bodyPr wrap="square" lIns="0" tIns="0" rIns="0" bIns="0" rtlCol="0" anchor="ctr"/>
          <a:lstStyle/>
          <a:p>
            <a:pPr algn="ctr" indent="0" marL="0">
              <a:buNone/>
            </a:pPr>
            <a:r>
              <a:rPr lang="en-US" sz="750" dirty="0">
                <a:solidFill>
                  <a:srgbClr val="EEF3EE"/>
                </a:solidFill>
                <a:latin typeface="Courier New" pitchFamily="34" charset="0"/>
                <a:ea typeface="Courier New" pitchFamily="34" charset="-122"/>
                <a:cs typeface="Courier New" pitchFamily="34" charset="-120"/>
              </a:rPr>
              <a:t>signature cache</a:t>
            </a:r>
            <a:endParaRPr lang="en-US" sz="750" dirty="0"/>
          </a:p>
        </p:txBody>
      </p:sp>
      <p:sp>
        <p:nvSpPr>
          <p:cNvPr id="18" name="Shape 15"/>
          <p:cNvSpPr/>
          <p:nvPr/>
        </p:nvSpPr>
        <p:spPr>
          <a:xfrm>
            <a:off x="5532120" y="2606040"/>
            <a:ext cx="3154680" cy="2011680"/>
          </a:xfrm>
          <a:prstGeom prst="roundRect">
            <a:avLst>
              <a:gd name="adj" fmla="val 2727"/>
            </a:avLst>
          </a:prstGeom>
          <a:solidFill>
            <a:srgbClr val="1E2F28"/>
          </a:solidFill>
          <a:ln w="9525">
            <a:solidFill>
              <a:srgbClr val="2A3D34"/>
            </a:solidFill>
            <a:prstDash val="solid"/>
          </a:ln>
        </p:spPr>
      </p:sp>
      <p:sp>
        <p:nvSpPr>
          <p:cNvPr id="19" name="Shape 16"/>
          <p:cNvSpPr/>
          <p:nvPr/>
        </p:nvSpPr>
        <p:spPr>
          <a:xfrm>
            <a:off x="5696712" y="2788920"/>
            <a:ext cx="118872" cy="118872"/>
          </a:xfrm>
          <a:prstGeom prst="ellipse">
            <a:avLst/>
          </a:prstGeom>
          <a:solidFill>
            <a:srgbClr val="E0553F"/>
          </a:solidFill>
          <a:ln w="12700">
            <a:solidFill>
              <a:srgbClr val="E0553F"/>
            </a:solidFill>
            <a:prstDash val="solid"/>
          </a:ln>
        </p:spPr>
      </p:sp>
      <p:sp>
        <p:nvSpPr>
          <p:cNvPr id="20" name="Text 17"/>
          <p:cNvSpPr txBox="1"/>
          <p:nvPr/>
        </p:nvSpPr>
        <p:spPr>
          <a:xfrm>
            <a:off x="5897880" y="2715768"/>
            <a:ext cx="265176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SILENTLY WRONG, TWICE</a:t>
            </a:r>
            <a:endParaRPr lang="en-US" sz="800" dirty="0"/>
          </a:p>
        </p:txBody>
      </p:sp>
      <p:sp>
        <p:nvSpPr>
          <p:cNvPr id="21" name="Text 18"/>
          <p:cNvSpPr txBox="1"/>
          <p:nvPr/>
        </p:nvSpPr>
        <p:spPr>
          <a:xfrm>
            <a:off x="5696712" y="3026664"/>
            <a:ext cx="2825496" cy="1481328"/>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A verdict said "recent form of 90%" beside a table reading "no history" — legs unchanged, evidence gone, cache key unchanged. Later, round(1.19)=1 produced "1 in 1 … extremely rare" for an 84%-likely slip. Both fixed in SQL, not in the prompt.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20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10 · SERVING &amp; ORCHESTRATION</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STREAMLIT AND AIRFLOW</a:t>
            </a:r>
            <a:endParaRPr lang="en-US" sz="3400" dirty="0"/>
          </a:p>
        </p:txBody>
      </p:sp>
      <p:sp>
        <p:nvSpPr>
          <p:cNvPr id="7" name="Shape 4"/>
          <p:cNvSpPr/>
          <p:nvPr/>
        </p:nvSpPr>
        <p:spPr>
          <a:xfrm>
            <a:off x="457200" y="1371600"/>
            <a:ext cx="4297680" cy="3246120"/>
          </a:xfrm>
          <a:prstGeom prst="roundRect">
            <a:avLst>
              <a:gd name="adj" fmla="val 1690"/>
            </a:avLst>
          </a:prstGeom>
          <a:solidFill>
            <a:srgbClr val="16241F"/>
          </a:solidFill>
          <a:ln w="9525">
            <a:solidFill>
              <a:srgbClr val="2A3D34"/>
            </a:solidFill>
            <a:prstDash val="solid"/>
          </a:ln>
        </p:spPr>
      </p:sp>
      <p:pic>
        <p:nvPicPr>
          <p:cNvPr id="8" name="Image 0" descr="C:/Users/Dumebi/Arbibet/arbibet-capstone/docs/screenshots/01-overview.png">    </p:cNvPr>
          <p:cNvPicPr>
            <a:picLocks noChangeAspect="1"/>
          </p:cNvPicPr>
          <p:nvPr/>
        </p:nvPicPr>
        <p:blipFill>
          <a:blip r:embed="rId1"/>
          <a:srcRect l="0" r="0" t="0" b="0"/>
          <a:stretch/>
        </p:blipFill>
        <p:spPr>
          <a:xfrm>
            <a:off x="548640" y="1463040"/>
            <a:ext cx="4114800" cy="3063240"/>
          </a:xfrm>
          <a:prstGeom prst="rect">
            <a:avLst/>
          </a:prstGeom>
        </p:spPr>
      </p:pic>
      <p:sp>
        <p:nvSpPr>
          <p:cNvPr id="9" name="Shape 5"/>
          <p:cNvSpPr/>
          <p:nvPr/>
        </p:nvSpPr>
        <p:spPr>
          <a:xfrm>
            <a:off x="4937760" y="1371600"/>
            <a:ext cx="3749040" cy="3246120"/>
          </a:xfrm>
          <a:prstGeom prst="roundRect">
            <a:avLst>
              <a:gd name="adj" fmla="val 1690"/>
            </a:avLst>
          </a:prstGeom>
          <a:solidFill>
            <a:srgbClr val="16241F"/>
          </a:solidFill>
          <a:ln w="9525">
            <a:solidFill>
              <a:srgbClr val="2A3D34"/>
            </a:solidFill>
            <a:prstDash val="solid"/>
          </a:ln>
        </p:spPr>
      </p:sp>
      <p:sp>
        <p:nvSpPr>
          <p:cNvPr id="10" name="Text 6"/>
          <p:cNvSpPr txBox="1"/>
          <p:nvPr/>
        </p:nvSpPr>
        <p:spPr>
          <a:xfrm>
            <a:off x="5120640" y="1463040"/>
            <a:ext cx="347472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STREAMLIT</a:t>
            </a:r>
            <a:endParaRPr lang="en-US" sz="1400" dirty="0"/>
          </a:p>
        </p:txBody>
      </p:sp>
      <p:sp>
        <p:nvSpPr>
          <p:cNvPr id="11" name="Text 7"/>
          <p:cNvSpPr txBox="1"/>
          <p:nvPr/>
        </p:nvSpPr>
        <p:spPr>
          <a:xfrm>
            <a:off x="5120640" y="1737360"/>
            <a:ext cx="3429000" cy="1463040"/>
          </a:xfrm>
          <a:prstGeom prst="rect">
            <a:avLst/>
          </a:prstGeom>
          <a:noFill/>
          <a:ln/>
        </p:spPr>
        <p:txBody>
          <a:bodyPr wrap="square" lIns="254" tIns="254" rIns="254" bIns="254" rtlCol="0" anchor="t"/>
          <a:lstStyle/>
          <a:p>
            <a:pPr marL="342900" indent="-342900">
              <a:spcAft>
                <a:spcPts val="400"/>
              </a:spcAft>
              <a:buSzPct val="100000"/>
              <a:buChar char="•"/>
            </a:pPr>
            <a:r>
              <a:rPr lang="en-US" sz="900" dirty="0">
                <a:solidFill>
                  <a:srgbClr val="EEF3EE"/>
                </a:solidFill>
                <a:latin typeface="Arial" pitchFamily="34" charset="0"/>
                <a:ea typeface="Arial" pitchFamily="34" charset="-122"/>
                <a:cs typeface="Arial" pitchFamily="34" charset="-120"/>
              </a:rPr>
              <a:t>Two pages: market signals, and a deep dive per fixture with the LLM brief, every book's price over time, and both sides' record.</a:t>
            </a:r>
            <a:endParaRPr lang="en-US" sz="900" dirty="0"/>
          </a:p>
          <a:p>
            <a:pPr marL="342900" indent="-342900">
              <a:spcAft>
                <a:spcPts val="400"/>
              </a:spcAft>
              <a:buSzPct val="100000"/>
              <a:buChar char="•"/>
            </a:pPr>
            <a:r>
              <a:rPr lang="en-US" sz="900" dirty="0">
                <a:solidFill>
                  <a:srgbClr val="EEF3EE"/>
                </a:solidFill>
                <a:latin typeface="Arial" pitchFamily="34" charset="0"/>
                <a:ea typeface="Arial" pitchFamily="34" charset="-122"/>
                <a:cs typeface="Arial" pitchFamily="34" charset="-120"/>
              </a:rPr>
              <a:t>Queries cached </a:t>
            </a:r>
            <a:pPr indent="0" marL="0">
              <a:buNone/>
            </a:pPr>
            <a:r>
              <a:rPr lang="en-US" sz="900" b="1" dirty="0">
                <a:solidFill>
                  <a:srgbClr val="F2B33D"/>
                </a:solidFill>
                <a:latin typeface="Arial" pitchFamily="34" charset="0"/>
                <a:ea typeface="Arial" pitchFamily="34" charset="-122"/>
                <a:cs typeface="Arial" pitchFamily="34" charset="-120"/>
              </a:rPr>
              <a:t>10 min</a:t>
            </a:r>
            <a:pPr indent="0" marL="0">
              <a:buNone/>
            </a:pPr>
            <a:r>
              <a:rPr lang="en-US" sz="900" dirty="0">
                <a:solidFill>
                  <a:srgbClr val="EEF3EE"/>
                </a:solidFill>
                <a:latin typeface="Arial" pitchFamily="34" charset="0"/>
                <a:ea typeface="Arial" pitchFamily="34" charset="-122"/>
                <a:cs typeface="Arial" pitchFamily="34" charset="-120"/>
              </a:rPr>
              <a:t> because Snowflake auto-suspends at 5 — an uncached load would bill a minute of credit for a page nobody is reading.</a:t>
            </a:r>
            <a:endParaRPr lang="en-US" sz="900" dirty="0"/>
          </a:p>
          <a:p>
            <a:pPr marL="342900" indent="-342900">
              <a:spcAft>
                <a:spcPts val="400"/>
              </a:spcAft>
              <a:buSzPct val="100000"/>
              <a:buChar char="•"/>
            </a:pPr>
            <a:r>
              <a:rPr lang="en-US" sz="900" dirty="0">
                <a:solidFill>
                  <a:srgbClr val="EEF3EE"/>
                </a:solidFill>
                <a:latin typeface="Arial" pitchFamily="34" charset="0"/>
                <a:ea typeface="Arial" pitchFamily="34" charset="-122"/>
                <a:cs typeface="Arial" pitchFamily="34" charset="-120"/>
              </a:rPr>
              <a:t>Standalone: imports no pipeline code, so Community Cloud installs from a 5-line requirements.txt.</a:t>
            </a:r>
            <a:endParaRPr lang="en-US" sz="900" dirty="0"/>
          </a:p>
        </p:txBody>
      </p:sp>
      <p:sp>
        <p:nvSpPr>
          <p:cNvPr id="12" name="Text 8"/>
          <p:cNvSpPr txBox="1"/>
          <p:nvPr/>
        </p:nvSpPr>
        <p:spPr>
          <a:xfrm>
            <a:off x="5120640" y="3200400"/>
            <a:ext cx="347472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AIRFLOW</a:t>
            </a:r>
            <a:endParaRPr lang="en-US" sz="1400" dirty="0"/>
          </a:p>
        </p:txBody>
      </p:sp>
      <p:sp>
        <p:nvSpPr>
          <p:cNvPr id="13" name="Text 9"/>
          <p:cNvSpPr txBox="1"/>
          <p:nvPr/>
        </p:nvSpPr>
        <p:spPr>
          <a:xfrm>
            <a:off x="5120640" y="3474720"/>
            <a:ext cx="3429000" cy="1097280"/>
          </a:xfrm>
          <a:prstGeom prst="rect">
            <a:avLst/>
          </a:prstGeom>
          <a:noFill/>
          <a:ln/>
        </p:spPr>
        <p:txBody>
          <a:bodyPr wrap="square" lIns="254" tIns="254" rIns="254" bIns="254" rtlCol="0" anchor="t"/>
          <a:lstStyle/>
          <a:p>
            <a:pPr marL="342900" indent="-342900">
              <a:spcAft>
                <a:spcPts val="400"/>
              </a:spcAft>
              <a:buSzPct val="100000"/>
              <a:buChar char="•"/>
            </a:pPr>
            <a:r>
              <a:rPr lang="en-US" sz="900" dirty="0">
                <a:solidFill>
                  <a:srgbClr val="EEF3EE"/>
                </a:solidFill>
                <a:latin typeface="Arial" pitchFamily="34" charset="0"/>
                <a:ea typeface="Arial" pitchFamily="34" charset="-122"/>
                <a:cs typeface="Arial" pitchFamily="34" charset="-120"/>
              </a:rPr>
              <a:t>One DAG, </a:t>
            </a:r>
            <a:pPr indent="0" marL="0">
              <a:buNone/>
            </a:pPr>
            <a:r>
              <a:rPr lang="en-US" sz="900" b="1" dirty="0">
                <a:solidFill>
                  <a:srgbClr val="F2B33D"/>
                </a:solidFill>
                <a:latin typeface="Arial" pitchFamily="34" charset="0"/>
                <a:ea typeface="Arial" pitchFamily="34" charset="-122"/>
                <a:cs typeface="Arial" pitchFamily="34" charset="-120"/>
              </a:rPr>
              <a:t>12 tasks</a:t>
            </a:r>
            <a:pPr indent="0" marL="0">
              <a:buNone/>
            </a:pPr>
            <a:r>
              <a:rPr lang="en-US" sz="900" dirty="0">
                <a:solidFill>
                  <a:srgbClr val="EEF3EE"/>
                </a:solidFill>
                <a:latin typeface="Arial" pitchFamily="34" charset="0"/>
                <a:ea typeface="Arial" pitchFamily="34" charset="-122"/>
                <a:cs typeface="Arial" pitchFamily="34" charset="-120"/>
              </a:rPr>
              <a:t>, LocalExecutor. Every task is a BashOperator against a separate pipeline venv — the DAG file imports nothing from the project.</a:t>
            </a:r>
            <a:endParaRPr lang="en-US" sz="900" dirty="0"/>
          </a:p>
          <a:p>
            <a:pPr marL="342900" indent="-342900">
              <a:spcAft>
                <a:spcPts val="400"/>
              </a:spcAft>
              <a:buSzPct val="100000"/>
              <a:buChar char="•"/>
            </a:pPr>
            <a:r>
              <a:rPr lang="en-US" sz="900" dirty="0">
                <a:solidFill>
                  <a:srgbClr val="EEF3EE"/>
                </a:solidFill>
                <a:latin typeface="Arial" pitchFamily="34" charset="0"/>
                <a:ea typeface="Arial" pitchFamily="34" charset="-122"/>
                <a:cs typeface="Arial" pitchFamily="34" charset="-120"/>
              </a:rPr>
              <a:t>Never backfills: every task reads the current state of bronze, not a partition.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2 · WHAT I BUILT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21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LAYER 11 · PERFORMANCE</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INDEXES: THE ONE QUERY SHAPE YOU NEVER WRITE</a:t>
            </a:r>
            <a:endParaRPr lang="en-US" sz="3400" dirty="0"/>
          </a:p>
        </p:txBody>
      </p:sp>
      <p:sp>
        <p:nvSpPr>
          <p:cNvPr id="7" name="Shape 4"/>
          <p:cNvSpPr/>
          <p:nvPr/>
        </p:nvSpPr>
        <p:spPr>
          <a:xfrm>
            <a:off x="457200" y="1371600"/>
            <a:ext cx="402336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THE INDEX THAT HOLDS BRONZE UP</a:t>
            </a:r>
            <a:endParaRPr lang="en-US" sz="1400" dirty="0"/>
          </a:p>
        </p:txBody>
      </p:sp>
      <p:sp>
        <p:nvSpPr>
          <p:cNvPr id="9" name="Shape 6"/>
          <p:cNvSpPr/>
          <p:nvPr/>
        </p:nvSpPr>
        <p:spPr>
          <a:xfrm>
            <a:off x="640080" y="1783080"/>
            <a:ext cx="3657600" cy="548640"/>
          </a:xfrm>
          <a:prstGeom prst="rect">
            <a:avLst/>
          </a:prstGeom>
          <a:solidFill>
            <a:srgbClr val="1E2F28"/>
          </a:solidFill>
          <a:ln w="6350">
            <a:solidFill>
              <a:srgbClr val="2A3D34"/>
            </a:solidFill>
            <a:prstDash val="solid"/>
          </a:ln>
        </p:spPr>
      </p:sp>
      <p:sp>
        <p:nvSpPr>
          <p:cNvPr id="10" name="Text 7"/>
          <p:cNvSpPr txBox="1"/>
          <p:nvPr/>
        </p:nvSpPr>
        <p:spPr>
          <a:xfrm>
            <a:off x="731520" y="1810512"/>
            <a:ext cx="3474720" cy="502920"/>
          </a:xfrm>
          <a:prstGeom prst="rect">
            <a:avLst/>
          </a:prstGeom>
          <a:noFill/>
          <a:ln/>
        </p:spPr>
        <p:txBody>
          <a:bodyPr wrap="square" lIns="0" tIns="0" rIns="0" bIns="0" rtlCol="0" anchor="ctr"/>
          <a:lstStyle/>
          <a:p>
            <a:pPr indent="0" marL="0">
              <a:buNone/>
            </a:pPr>
            <a:r>
              <a:rPr lang="en-US" sz="900" dirty="0">
                <a:solidFill>
                  <a:srgbClr val="7FB3E6"/>
                </a:solidFill>
                <a:latin typeface="Courier New" pitchFamily="34" charset="0"/>
                <a:ea typeface="Courier New" pitchFamily="34" charset="-122"/>
                <a:cs typeface="Courier New" pitchFamily="34" charset="-120"/>
              </a:rPr>
              <a:t>idx_bep_event_book_write</a:t>
            </a:r>
            <a:endParaRPr lang="en-US" sz="900" dirty="0"/>
          </a:p>
          <a:p>
            <a:pPr indent="0" marL="0">
              <a:buNone/>
            </a:pPr>
            <a:r>
              <a:rPr lang="en-US" sz="900" dirty="0">
                <a:solidFill>
                  <a:srgbClr val="7FB3E6"/>
                </a:solidFill>
                <a:latin typeface="Courier New" pitchFamily="34" charset="0"/>
                <a:ea typeface="Courier New" pitchFamily="34" charset="-122"/>
                <a:cs typeface="Courier New" pitchFamily="34" charset="-120"/>
              </a:rPr>
              <a:t>  (event_id, bookmaker, write_time DESC)</a:t>
            </a:r>
            <a:endParaRPr lang="en-US" sz="900" dirty="0"/>
          </a:p>
        </p:txBody>
      </p:sp>
      <p:sp>
        <p:nvSpPr>
          <p:cNvPr id="11" name="Text 8"/>
          <p:cNvSpPr txBox="1"/>
          <p:nvPr/>
        </p:nvSpPr>
        <p:spPr>
          <a:xfrm>
            <a:off x="640080" y="2468880"/>
            <a:ext cx="3657600" cy="2103120"/>
          </a:xfrm>
          <a:prstGeom prst="rect">
            <a:avLst/>
          </a:prstGeom>
          <a:noFill/>
          <a:ln/>
        </p:spPr>
        <p:txBody>
          <a:bodyPr wrap="square" lIns="254" tIns="254" rIns="254" bIns="254" rtlCol="0" anchor="t"/>
          <a:lstStyle/>
          <a:p>
            <a:pPr marL="342900" indent="-342900">
              <a:spcAft>
                <a:spcPts val="400"/>
              </a:spcAft>
              <a:buSzPct val="100000"/>
              <a:buChar char="•"/>
            </a:pPr>
            <a:r>
              <a:rPr lang="en-US" sz="950" dirty="0">
                <a:solidFill>
                  <a:srgbClr val="EEF3EE"/>
                </a:solidFill>
                <a:latin typeface="Arial" pitchFamily="34" charset="0"/>
                <a:ea typeface="Arial" pitchFamily="34" charset="-122"/>
                <a:cs typeface="Arial" pitchFamily="34" charset="-120"/>
              </a:rPr>
              <a:t>Every read drives on event_id — the leading column. "Latest per book" is one ordered walk.</a:t>
            </a:r>
            <a:endParaRPr lang="en-US" sz="950" dirty="0"/>
          </a:p>
          <a:p>
            <a:pPr marL="342900" indent="-342900">
              <a:spcAft>
                <a:spcPts val="400"/>
              </a:spcAft>
              <a:buSzPct val="100000"/>
              <a:buChar char="•"/>
            </a:pPr>
            <a:r>
              <a:rPr lang="en-US" sz="950" b="1" dirty="0">
                <a:solidFill>
                  <a:srgbClr val="F2B33D"/>
                </a:solidFill>
                <a:latin typeface="Arial" pitchFamily="34" charset="0"/>
                <a:ea typeface="Arial" pitchFamily="34" charset="-122"/>
                <a:cs typeface="Arial" pitchFamily="34" charset="-120"/>
              </a:rPr>
              <a:t>Never</a:t>
            </a:r>
            <a:pPr indent="0" marL="0">
              <a:buNone/>
            </a:pPr>
            <a:r>
              <a:rPr lang="en-US" sz="950" dirty="0">
                <a:solidFill>
                  <a:srgbClr val="EEF3EE"/>
                </a:solidFill>
                <a:latin typeface="Arial" pitchFamily="34" charset="0"/>
                <a:ea typeface="Arial" pitchFamily="34" charset="-122"/>
                <a:cs typeface="Arial" pitchFamily="34" charset="-120"/>
              </a:rPr>
              <a:t> filter on bookmaker or write_time alone: no index leads with them, so the planner falls back to a sequential scan over the BYTEA payload bodies. That is the query that froze the production host mid-tournament.</a:t>
            </a:r>
            <a:endParaRPr lang="en-US" sz="950" dirty="0"/>
          </a:p>
        </p:txBody>
      </p:sp>
      <p:sp>
        <p:nvSpPr>
          <p:cNvPr id="12" name="Shape 9"/>
          <p:cNvSpPr/>
          <p:nvPr/>
        </p:nvSpPr>
        <p:spPr>
          <a:xfrm>
            <a:off x="4663440" y="1371600"/>
            <a:ext cx="4023360" cy="3246120"/>
          </a:xfrm>
          <a:prstGeom prst="roundRect">
            <a:avLst>
              <a:gd name="adj" fmla="val 1690"/>
            </a:avLst>
          </a:prstGeom>
          <a:solidFill>
            <a:srgbClr val="16241F"/>
          </a:solidFill>
          <a:ln w="9525">
            <a:solidFill>
              <a:srgbClr val="2A3D34"/>
            </a:solidFill>
            <a:prstDash val="solid"/>
          </a:ln>
        </p:spPr>
      </p:sp>
      <p:sp>
        <p:nvSpPr>
          <p:cNvPr id="13" name="Text 10"/>
          <p:cNvSpPr txBox="1"/>
          <p:nvPr/>
        </p:nvSpPr>
        <p:spPr>
          <a:xfrm>
            <a:off x="484632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MEASURED, NOT ASSUMED</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846320" y="1783080"/>
          <a:ext cx="3657600" cy="914400"/>
        </p:xfrm>
        <a:graphic>
          <a:graphicData uri="http://schemas.openxmlformats.org/drawingml/2006/table">
            <a:tbl>
              <a:tblPr/>
              <a:tblGrid>
                <a:gridCol w="2011680"/>
                <a:gridCol w="822960"/>
                <a:gridCol w="822960"/>
              </a:tblGrid>
              <a:tr h="0">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POLL SHAPE</a:t>
                      </a:r>
                      <a:endParaRPr lang="en-US" sz="7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FIXTURES</a:t>
                      </a:r>
                      <a:endParaRPr lang="en-US" sz="7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TIME</a:t>
                      </a:r>
                      <a:endParaRPr lang="en-US" sz="7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event_id = ANY(…), 3-day window</a:t>
                      </a:r>
                      <a:endParaRPr lang="en-US" sz="900" dirty="0">
                        <a:latin typeface="Arial" charset="0"/>
                        <a:ea typeface="Arial" charset="0"/>
                        <a:cs typeface="Arial"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Courier New" pitchFamily="34" charset="0"/>
                          <a:ea typeface="Courier New" pitchFamily="34" charset="-122"/>
                          <a:cs typeface="Courier New" pitchFamily="34" charset="-120"/>
                        </a:rPr>
                        <a:t>1,368</a:t>
                      </a:r>
                      <a:endParaRPr lang="en-US" sz="9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0553F"/>
                          </a:solidFill>
                          <a:latin typeface="Courier New" pitchFamily="34" charset="0"/>
                          <a:ea typeface="Courier New" pitchFamily="34" charset="-122"/>
                          <a:cs typeface="Courier New" pitchFamily="34" charset="-120"/>
                        </a:rPr>
                        <a:t>≈ 40 s</a:t>
                      </a:r>
                      <a:endParaRPr lang="en-US" sz="9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event_id = ANY(…), 6-hour window</a:t>
                      </a:r>
                      <a:endParaRPr lang="en-US" sz="900" dirty="0">
                        <a:latin typeface="Arial" charset="0"/>
                        <a:ea typeface="Arial" charset="0"/>
                        <a:cs typeface="Arial"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Courier New" pitchFamily="34" charset="0"/>
                          <a:ea typeface="Courier New" pitchFamily="34" charset="-122"/>
                          <a:cs typeface="Courier New" pitchFamily="34" charset="-120"/>
                        </a:rPr>
                        <a:t>100</a:t>
                      </a:r>
                      <a:endParaRPr lang="en-US" sz="9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5DBE8A"/>
                          </a:solidFill>
                          <a:latin typeface="Courier New" pitchFamily="34" charset="0"/>
                          <a:ea typeface="Courier New" pitchFamily="34" charset="-122"/>
                          <a:cs typeface="Courier New" pitchFamily="34" charset="-120"/>
                        </a:rPr>
                        <a:t>&lt; 1 s</a:t>
                      </a:r>
                      <a:endParaRPr lang="en-US" sz="900" dirty="0">
                        <a:latin typeface="Courier New" charset="0"/>
                        <a:ea typeface="Courier New" charset="0"/>
                        <a:cs typeface="Courier New" charset="0"/>
                      </a:endParaRPr>
                    </a:p>
                  </a:txBody>
                  <a:tcPr marL="45720" marR="45720" marT="45720" marB="45720">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bl>
          </a:graphicData>
        </a:graphic>
      </p:graphicFrame>
      <p:sp>
        <p:nvSpPr>
          <p:cNvPr id="15" name="Text 11"/>
          <p:cNvSpPr txBox="1"/>
          <p:nvPr/>
        </p:nvSpPr>
        <p:spPr>
          <a:xfrm>
            <a:off x="4846320" y="2880360"/>
            <a:ext cx="3657600" cy="685800"/>
          </a:xfrm>
          <a:prstGeom prst="rect">
            <a:avLst/>
          </a:prstGeom>
          <a:noFill/>
          <a:ln/>
        </p:spPr>
        <p:txBody>
          <a:bodyPr wrap="square" lIns="0" tIns="0" rIns="0" bIns="0" rtlCol="0" anchor="t"/>
          <a:lstStyle/>
          <a:p>
            <a:pPr indent="0" marL="0">
              <a:buNone/>
            </a:pPr>
            <a:r>
              <a:rPr lang="en-US" sz="950" dirty="0">
                <a:solidFill>
                  <a:srgbClr val="9DB0A6"/>
                </a:solidFill>
                <a:latin typeface="Arial" pitchFamily="34" charset="0"/>
                <a:ea typeface="Arial" pitchFamily="34" charset="-122"/>
                <a:cs typeface="Arial" pitchFamily="34" charset="-120"/>
              </a:rPr>
              <a:t>Same index, same query. A large enough array tips the planner into scanning the table anyway. Bound the key set and the index serves it.</a:t>
            </a:r>
            <a:endParaRPr lang="en-US" sz="950" dirty="0"/>
          </a:p>
        </p:txBody>
      </p:sp>
      <p:sp>
        <p:nvSpPr>
          <p:cNvPr id="16" name="Text 12"/>
          <p:cNvSpPr txBox="1"/>
          <p:nvPr/>
        </p:nvSpPr>
        <p:spPr>
          <a:xfrm>
            <a:off x="4846320" y="3611880"/>
            <a:ext cx="3657600" cy="822960"/>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In Snowflake the equivalent discipline is the </a:t>
            </a:r>
            <a:pPr indent="0" marL="0">
              <a:buNone/>
            </a:pPr>
            <a:r>
              <a:rPr lang="en-US" sz="950" b="1" dirty="0">
                <a:solidFill>
                  <a:srgbClr val="F2B33D"/>
                </a:solidFill>
                <a:latin typeface="Arial" pitchFamily="34" charset="0"/>
                <a:ea typeface="Arial" pitchFamily="34" charset="-122"/>
                <a:cs typeface="Arial" pitchFamily="34" charset="-120"/>
              </a:rPr>
              <a:t>MERGE key</a:t>
            </a:r>
            <a:pPr indent="0" marL="0">
              <a:buNone/>
            </a:pPr>
            <a:r>
              <a:rPr lang="en-US" sz="950" dirty="0">
                <a:solidFill>
                  <a:srgbClr val="EEF3EE"/>
                </a:solidFill>
                <a:latin typeface="Arial" pitchFamily="34" charset="0"/>
                <a:ea typeface="Arial" pitchFamily="34" charset="-122"/>
                <a:cs typeface="Arial" pitchFamily="34" charset="-120"/>
              </a:rPr>
              <a:t>: every write matches on a natural key so re-runs converge instead of duplicate.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22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RESULTS</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WHAT THE PIPELINE ACTUALLY FOUND</a:t>
            </a:r>
            <a:endParaRPr lang="en-US" sz="3400" dirty="0"/>
          </a:p>
        </p:txBody>
      </p:sp>
      <p:sp>
        <p:nvSpPr>
          <p:cNvPr id="7" name="Shape 4"/>
          <p:cNvSpPr/>
          <p:nvPr/>
        </p:nvSpPr>
        <p:spPr>
          <a:xfrm>
            <a:off x="457200" y="1371600"/>
            <a:ext cx="2606040" cy="1691640"/>
          </a:xfrm>
          <a:prstGeom prst="roundRect">
            <a:avLst>
              <a:gd name="adj" fmla="val 3243"/>
            </a:avLst>
          </a:prstGeom>
          <a:solidFill>
            <a:srgbClr val="16241F"/>
          </a:solidFill>
          <a:ln w="9525">
            <a:solidFill>
              <a:srgbClr val="2A3D34"/>
            </a:solidFill>
            <a:prstDash val="solid"/>
          </a:ln>
        </p:spPr>
      </p:sp>
      <p:sp>
        <p:nvSpPr>
          <p:cNvPr id="8" name="Text 5"/>
          <p:cNvSpPr txBox="1"/>
          <p:nvPr/>
        </p:nvSpPr>
        <p:spPr>
          <a:xfrm>
            <a:off x="640080" y="148132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4</a:t>
            </a:r>
            <a:endParaRPr lang="en-US" sz="4000" dirty="0"/>
          </a:p>
        </p:txBody>
      </p:sp>
      <p:sp>
        <p:nvSpPr>
          <p:cNvPr id="9" name="Text 6"/>
          <p:cNvSpPr txBox="1"/>
          <p:nvPr/>
        </p:nvSpPr>
        <p:spPr>
          <a:xfrm>
            <a:off x="640080" y="2286000"/>
            <a:ext cx="2240280" cy="64008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true surebets in 6.9M payloads. First run said 174 — every extra one was a crosswalk defect.</a:t>
            </a:r>
            <a:endParaRPr lang="en-US" sz="1050" dirty="0"/>
          </a:p>
        </p:txBody>
      </p:sp>
      <p:sp>
        <p:nvSpPr>
          <p:cNvPr id="10" name="Shape 7"/>
          <p:cNvSpPr/>
          <p:nvPr/>
        </p:nvSpPr>
        <p:spPr>
          <a:xfrm>
            <a:off x="3246120" y="1371600"/>
            <a:ext cx="2606040" cy="1691640"/>
          </a:xfrm>
          <a:prstGeom prst="roundRect">
            <a:avLst>
              <a:gd name="adj" fmla="val 3243"/>
            </a:avLst>
          </a:prstGeom>
          <a:solidFill>
            <a:srgbClr val="16241F"/>
          </a:solidFill>
          <a:ln w="9525">
            <a:solidFill>
              <a:srgbClr val="2A3D34"/>
            </a:solidFill>
            <a:prstDash val="solid"/>
          </a:ln>
        </p:spPr>
      </p:sp>
      <p:sp>
        <p:nvSpPr>
          <p:cNvPr id="11" name="Text 8"/>
          <p:cNvSpPr txBox="1"/>
          <p:nvPr/>
        </p:nvSpPr>
        <p:spPr>
          <a:xfrm>
            <a:off x="3429000" y="1481328"/>
            <a:ext cx="2240280" cy="777240"/>
          </a:xfrm>
          <a:prstGeom prst="rect">
            <a:avLst/>
          </a:prstGeom>
          <a:noFill/>
          <a:ln/>
        </p:spPr>
        <p:txBody>
          <a:bodyPr wrap="square" lIns="0" tIns="0" rIns="0" bIns="0" rtlCol="0" anchor="ctr"/>
          <a:lstStyle/>
          <a:p>
            <a:pPr indent="0" marL="0">
              <a:buNone/>
            </a:pPr>
            <a:r>
              <a:rPr lang="en-US" sz="3400" b="1" dirty="0">
                <a:solidFill>
                  <a:srgbClr val="F2B33D"/>
                </a:solidFill>
                <a:latin typeface="Barlow Condensed" pitchFamily="34" charset="0"/>
                <a:ea typeface="Barlow Condensed" pitchFamily="34" charset="-122"/>
                <a:cs typeface="Barlow Condensed" pitchFamily="34" charset="-120"/>
              </a:rPr>
              <a:t>5.96M</a:t>
            </a:r>
            <a:endParaRPr lang="en-US" sz="3400" dirty="0"/>
          </a:p>
        </p:txBody>
      </p:sp>
      <p:sp>
        <p:nvSpPr>
          <p:cNvPr id="12" name="Text 9"/>
          <p:cNvSpPr txBox="1"/>
          <p:nvPr/>
        </p:nvSpPr>
        <p:spPr>
          <a:xfrm>
            <a:off x="3429000" y="2286000"/>
            <a:ext cx="2240280" cy="64008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settled team-market results; 32,057 price changes replayed with 0 unparseable payloads</a:t>
            </a:r>
            <a:endParaRPr lang="en-US" sz="1050" dirty="0"/>
          </a:p>
        </p:txBody>
      </p:sp>
      <p:sp>
        <p:nvSpPr>
          <p:cNvPr id="13" name="Shape 10"/>
          <p:cNvSpPr/>
          <p:nvPr/>
        </p:nvSpPr>
        <p:spPr>
          <a:xfrm>
            <a:off x="6035040" y="1371600"/>
            <a:ext cx="2606040" cy="1691640"/>
          </a:xfrm>
          <a:prstGeom prst="roundRect">
            <a:avLst>
              <a:gd name="adj" fmla="val 3243"/>
            </a:avLst>
          </a:prstGeom>
          <a:solidFill>
            <a:srgbClr val="16241F"/>
          </a:solidFill>
          <a:ln w="9525">
            <a:solidFill>
              <a:srgbClr val="2A3D34"/>
            </a:solidFill>
            <a:prstDash val="solid"/>
          </a:ln>
        </p:spPr>
      </p:sp>
      <p:sp>
        <p:nvSpPr>
          <p:cNvPr id="14" name="Text 11"/>
          <p:cNvSpPr txBox="1"/>
          <p:nvPr/>
        </p:nvSpPr>
        <p:spPr>
          <a:xfrm>
            <a:off x="6217920" y="1481328"/>
            <a:ext cx="2240280" cy="777240"/>
          </a:xfrm>
          <a:prstGeom prst="rect">
            <a:avLst/>
          </a:prstGeom>
          <a:noFill/>
          <a:ln/>
        </p:spPr>
        <p:txBody>
          <a:bodyPr wrap="square" lIns="0" tIns="0" rIns="0" bIns="0" rtlCol="0" anchor="ctr"/>
          <a:lstStyle/>
          <a:p>
            <a:pPr indent="0" marL="0">
              <a:buNone/>
            </a:pPr>
            <a:r>
              <a:rPr lang="en-US" sz="4000" b="1" dirty="0">
                <a:solidFill>
                  <a:srgbClr val="F2B33D"/>
                </a:solidFill>
                <a:latin typeface="Barlow Condensed" pitchFamily="34" charset="0"/>
                <a:ea typeface="Barlow Condensed" pitchFamily="34" charset="-122"/>
                <a:cs typeface="Barlow Condensed" pitchFamily="34" charset="-120"/>
              </a:rPr>
              <a:t>393</a:t>
            </a:r>
            <a:endParaRPr lang="en-US" sz="4000" dirty="0"/>
          </a:p>
        </p:txBody>
      </p:sp>
      <p:sp>
        <p:nvSpPr>
          <p:cNvPr id="15" name="Text 12"/>
          <p:cNvSpPr txBox="1"/>
          <p:nvPr/>
        </p:nvSpPr>
        <p:spPr>
          <a:xfrm>
            <a:off x="6217920" y="2286000"/>
            <a:ext cx="2240280" cy="640080"/>
          </a:xfrm>
          <a:prstGeom prst="rect">
            <a:avLst/>
          </a:prstGeom>
          <a:noFill/>
          <a:ln/>
        </p:spPr>
        <p:txBody>
          <a:bodyPr wrap="square" lIns="0" tIns="0" rIns="0" bIns="0" rtlCol="0" anchor="t"/>
          <a:lstStyle/>
          <a:p>
            <a:pPr indent="0" marL="0">
              <a:buNone/>
            </a:pPr>
            <a:r>
              <a:rPr lang="en-US" sz="1050" dirty="0">
                <a:solidFill>
                  <a:srgbClr val="9DB0A6"/>
                </a:solidFill>
                <a:latin typeface="Arial" pitchFamily="34" charset="0"/>
                <a:ea typeface="Arial" pitchFamily="34" charset="-122"/>
                <a:cs typeface="Arial" pitchFamily="34" charset="-120"/>
              </a:rPr>
              <a:t>booking slips judged; 86% of legs reach a settled history</a:t>
            </a:r>
            <a:endParaRPr lang="en-US" sz="1050" dirty="0"/>
          </a:p>
        </p:txBody>
      </p:sp>
      <p:sp>
        <p:nvSpPr>
          <p:cNvPr id="16" name="Shape 13"/>
          <p:cNvSpPr/>
          <p:nvPr/>
        </p:nvSpPr>
        <p:spPr>
          <a:xfrm>
            <a:off x="457200" y="3200400"/>
            <a:ext cx="4023360" cy="1371600"/>
          </a:xfrm>
          <a:prstGeom prst="roundRect">
            <a:avLst>
              <a:gd name="adj" fmla="val 4000"/>
            </a:avLst>
          </a:prstGeom>
          <a:solidFill>
            <a:srgbClr val="16241F"/>
          </a:solidFill>
          <a:ln w="9525">
            <a:solidFill>
              <a:srgbClr val="2A3D34"/>
            </a:solidFill>
            <a:prstDash val="solid"/>
          </a:ln>
        </p:spPr>
      </p:sp>
      <p:sp>
        <p:nvSpPr>
          <p:cNvPr id="17" name="Text 14"/>
          <p:cNvSpPr txBox="1"/>
          <p:nvPr/>
        </p:nvSpPr>
        <p:spPr>
          <a:xfrm>
            <a:off x="640080" y="3291840"/>
            <a:ext cx="3657600" cy="1188720"/>
          </a:xfrm>
          <a:prstGeom prst="rect">
            <a:avLst/>
          </a:prstGeom>
          <a:noFill/>
          <a:ln/>
        </p:spPr>
        <p:txBody>
          <a:bodyPr wrap="square" lIns="0" tIns="0" rIns="0" bIns="0" rtlCol="0" anchor="t"/>
          <a:lstStyle/>
          <a:p>
            <a:pPr indent="0" marL="0">
              <a:buNone/>
            </a:pPr>
            <a:r>
              <a:rPr lang="en-US" sz="1050" b="1" dirty="0">
                <a:solidFill>
                  <a:srgbClr val="F2B33D"/>
                </a:solidFill>
                <a:latin typeface="Arial" pitchFamily="34" charset="0"/>
                <a:ea typeface="Arial" pitchFamily="34" charset="-122"/>
                <a:cs typeface="Arial" pitchFamily="34" charset="-120"/>
              </a:rPr>
              <a:t>Arbitrage is approximately zero — and that is the answer.</a:t>
            </a:r>
            <a:pPr indent="0" marL="0">
              <a:buNone/>
            </a:pPr>
            <a:r>
              <a:rPr lang="en-US" sz="1050" dirty="0">
                <a:solidFill>
                  <a:srgbClr val="EEF3EE"/>
                </a:solidFill>
                <a:latin typeface="Arial" pitchFamily="34" charset="0"/>
                <a:ea typeface="Arial" pitchFamily="34" charset="-122"/>
                <a:cs typeface="Arial" pitchFamily="34" charset="-120"/>
              </a:rPr>
              <a:t> The best surebet, 1.0396, is on first-half corners: the obscure market where soft books pay least attention.</a:t>
            </a:r>
            <a:endParaRPr lang="en-US" sz="1050" dirty="0"/>
          </a:p>
        </p:txBody>
      </p:sp>
      <p:sp>
        <p:nvSpPr>
          <p:cNvPr id="18" name="Shape 15"/>
          <p:cNvSpPr/>
          <p:nvPr/>
        </p:nvSpPr>
        <p:spPr>
          <a:xfrm>
            <a:off x="4663440" y="3200400"/>
            <a:ext cx="4023360" cy="1371600"/>
          </a:xfrm>
          <a:prstGeom prst="roundRect">
            <a:avLst>
              <a:gd name="adj" fmla="val 4000"/>
            </a:avLst>
          </a:prstGeom>
          <a:solidFill>
            <a:srgbClr val="16241F"/>
          </a:solidFill>
          <a:ln w="9525">
            <a:solidFill>
              <a:srgbClr val="2A3D34"/>
            </a:solidFill>
            <a:prstDash val="solid"/>
          </a:ln>
        </p:spPr>
      </p:sp>
      <p:sp>
        <p:nvSpPr>
          <p:cNvPr id="19" name="Text 16"/>
          <p:cNvSpPr txBox="1"/>
          <p:nvPr/>
        </p:nvSpPr>
        <p:spPr>
          <a:xfrm>
            <a:off x="4846320" y="3291840"/>
            <a:ext cx="3657600" cy="1188720"/>
          </a:xfrm>
          <a:prstGeom prst="rect">
            <a:avLst/>
          </a:prstGeom>
          <a:noFill/>
          <a:ln/>
        </p:spPr>
        <p:txBody>
          <a:bodyPr wrap="square" lIns="0" tIns="0" rIns="0" bIns="0" rtlCol="0" anchor="t"/>
          <a:lstStyle/>
          <a:p>
            <a:pPr indent="0" marL="0">
              <a:buNone/>
            </a:pPr>
            <a:r>
              <a:rPr lang="en-US" sz="1050" b="1" dirty="0">
                <a:solidFill>
                  <a:srgbClr val="F2B33D"/>
                </a:solidFill>
                <a:latin typeface="Arial" pitchFamily="34" charset="0"/>
                <a:ea typeface="Arial" pitchFamily="34" charset="-122"/>
                <a:cs typeface="Arial" pitchFamily="34" charset="-120"/>
              </a:rPr>
              <a:t>Popularity and soundness are unrelated.</a:t>
            </a:r>
            <a:pPr indent="0" marL="0">
              <a:buNone/>
            </a:pPr>
            <a:r>
              <a:rPr lang="en-US" sz="1050" dirty="0">
                <a:solidFill>
                  <a:srgbClr val="EEF3EE"/>
                </a:solidFill>
                <a:latin typeface="Arial" pitchFamily="34" charset="0"/>
                <a:ea typeface="Arial" pitchFamily="34" charset="-122"/>
                <a:cs typeface="Arial" pitchFamily="34" charset="-120"/>
              </a:rPr>
              <a:t> 5,739 people copied a slip with a 1-in-411,956 chance. The most-copied slip on the same fetch was a sane 1-in-13.</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2:30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23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THE THESIS</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000" b="1" dirty="0">
                <a:solidFill>
                  <a:srgbClr val="EEF3EE"/>
                </a:solidFill>
                <a:latin typeface="Barlow Condensed" pitchFamily="34" charset="0"/>
                <a:ea typeface="Barlow Condensed" pitchFamily="34" charset="-122"/>
                <a:cs typeface="Barlow Condensed" pitchFamily="34" charset="-120"/>
              </a:rPr>
              <a:t>SILENT WRONGNESS BEATS LOUD FAILURE — AND IT IS WORSE</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2011680"/>
                <a:gridCol w="4023360"/>
                <a:gridCol w="2194560"/>
              </a:tblGrid>
              <a:tr h="0">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WHAT IT LOOKED LIKE</a:t>
                      </a:r>
                      <a:endParaRPr lang="en-US" sz="700" dirty="0">
                        <a:latin typeface="Courier New" charset="0"/>
                        <a:ea typeface="Courier New" charset="0"/>
                        <a:cs typeface="Courier New"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WHAT IT WAS</a:t>
                      </a:r>
                      <a:endParaRPr lang="en-US" sz="700" dirty="0">
                        <a:latin typeface="Courier New" charset="0"/>
                        <a:ea typeface="Courier New" charset="0"/>
                        <a:cs typeface="Courier New"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WHAT CAUGHT IT</a:t>
                      </a:r>
                      <a:endParaRPr lang="en-US" sz="700" dirty="0">
                        <a:latin typeface="Courier New" charset="0"/>
                        <a:ea typeface="Courier New" charset="0"/>
                        <a:cs typeface="Courier New"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174 arbitrages, best 7.83×</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O/U ladder collapsed into one market; asian handicap not normalised; suspended prices read as live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"Is 783% of stake physically possible?"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Slip cards: "0 with history"</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Rolling-window NULLs MERGEd over 3,226 fixtures' team ids</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The dashboard put a claim beside its evidence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Kick-off 11:45</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Session timezone America/Los_Angeles; TIMESTAMP_TZ keeps the offset</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"Ligue 1 does not kick off at lunch"</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"Won 0/10" for every side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Compared RESULT to "win"; the column holds "W"</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Reading the rendered page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"1 in 1 … extremely rare"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round(1.19)=1; model invented a frequency from the copy count</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Reading the rendered sentence</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"outcome 12"</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Taxonomy names only what it can settle; id 12 is over in one market and 1-2 in another</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Refusing to guess; using the book's own label</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A price collapsing to 0.00</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One book emits 0.00 for suspended outcomes; in the engine 1/0=∞ and the market is never flagged</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A chart axis reaching zero when told not to</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published=73 failed=0, exit 0</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Broker advertised localhost, so the containerised producer connected to itself; delivery reports ignored</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The topic's high-water mark had not moved</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800" dirty="0">
                          <a:solidFill>
                            <a:srgbClr val="EEF3EE"/>
                          </a:solidFill>
                          <a:latin typeface="Arial" pitchFamily="34" charset="0"/>
                          <a:ea typeface="Arial" pitchFamily="34" charset="-122"/>
                          <a:cs typeface="Arial" pitchFamily="34" charset="-120"/>
                        </a:rPr>
                        <a:t>"arbitrage 0.9897" on 2 legs</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Both legs were the SAME book -- its own overround, admitted by the 0.98 threshold</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800" dirty="0">
                          <a:solidFill>
                            <a:srgbClr val="EEF3EE"/>
                          </a:solidFill>
                          <a:latin typeface="Arial" pitchFamily="34" charset="0"/>
                          <a:ea typeface="Arial" pitchFamily="34" charset="-122"/>
                          <a:cs typeface="Arial" pitchFamily="34" charset="-120"/>
                        </a:rPr>
                        <a:t>A dbt relationships test failed on the orphan market</a:t>
                      </a:r>
                      <a:endParaRPr lang="en-US" sz="800" dirty="0">
                        <a:latin typeface="Arial" charset="0"/>
                        <a:ea typeface="Arial" charset="0"/>
                        <a:cs typeface="Arial" charset="0"/>
                      </a:endParaRPr>
                    </a:p>
                  </a:txBody>
                  <a:tcPr marL="32004" marR="32004" marT="32004" marB="32004"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bl>
          </a:graphicData>
        </a:graphic>
      </p:graphicFrame>
      <p:sp>
        <p:nvSpPr>
          <p:cNvPr id="8" name="Shape 4"/>
          <p:cNvSpPr/>
          <p:nvPr/>
        </p:nvSpPr>
        <p:spPr>
          <a:xfrm>
            <a:off x="457200" y="3950208"/>
            <a:ext cx="8229600" cy="713232"/>
          </a:xfrm>
          <a:prstGeom prst="roundRect">
            <a:avLst>
              <a:gd name="adj" fmla="val 7692"/>
            </a:avLst>
          </a:prstGeom>
          <a:solidFill>
            <a:srgbClr val="1E2F28"/>
          </a:solidFill>
          <a:ln w="9525">
            <a:solidFill>
              <a:srgbClr val="2A3D34"/>
            </a:solidFill>
            <a:prstDash val="solid"/>
          </a:ln>
        </p:spPr>
      </p:sp>
      <p:sp>
        <p:nvSpPr>
          <p:cNvPr id="9" name="Shape 5"/>
          <p:cNvSpPr/>
          <p:nvPr/>
        </p:nvSpPr>
        <p:spPr>
          <a:xfrm>
            <a:off x="621792" y="4133088"/>
            <a:ext cx="118872" cy="118872"/>
          </a:xfrm>
          <a:prstGeom prst="ellipse">
            <a:avLst/>
          </a:prstGeom>
          <a:solidFill>
            <a:srgbClr val="E0553F"/>
          </a:solidFill>
          <a:ln w="12700">
            <a:solidFill>
              <a:srgbClr val="E0553F"/>
            </a:solidFill>
            <a:prstDash val="solid"/>
          </a:ln>
        </p:spPr>
      </p:sp>
      <p:sp>
        <p:nvSpPr>
          <p:cNvPr id="10" name="Text 6"/>
          <p:cNvSpPr txBox="1"/>
          <p:nvPr/>
        </p:nvSpPr>
        <p:spPr>
          <a:xfrm>
            <a:off x="822960" y="4059936"/>
            <a:ext cx="7726680" cy="256032"/>
          </a:xfrm>
          <a:prstGeom prst="rect">
            <a:avLst/>
          </a:prstGeom>
          <a:noFill/>
          <a:ln/>
        </p:spPr>
        <p:txBody>
          <a:bodyPr wrap="square" lIns="0" tIns="0" rIns="0" bIns="0" rtlCol="0" anchor="ctr"/>
          <a:lstStyle/>
          <a:p>
            <a:pPr indent="0" marL="0">
              <a:buNone/>
            </a:pPr>
            <a:r>
              <a:rPr lang="en-US" sz="800" spc="150" kern="0" dirty="0">
                <a:solidFill>
                  <a:srgbClr val="E0553F"/>
                </a:solidFill>
                <a:latin typeface="Courier New" pitchFamily="34" charset="0"/>
                <a:ea typeface="Courier New" pitchFamily="34" charset="-122"/>
                <a:cs typeface="Courier New" pitchFamily="34" charset="-120"/>
              </a:rPr>
              <a:t>THE PATTERN</a:t>
            </a:r>
            <a:endParaRPr lang="en-US" sz="800" dirty="0"/>
          </a:p>
        </p:txBody>
      </p:sp>
      <p:sp>
        <p:nvSpPr>
          <p:cNvPr id="11" name="Text 7"/>
          <p:cNvSpPr txBox="1"/>
          <p:nvPr/>
        </p:nvSpPr>
        <p:spPr>
          <a:xfrm>
            <a:off x="621792" y="4370832"/>
            <a:ext cx="7900416" cy="182880"/>
          </a:xfrm>
          <a:prstGeom prst="rect">
            <a:avLst/>
          </a:prstGeom>
          <a:noFill/>
          <a:ln/>
        </p:spPr>
        <p:txBody>
          <a:bodyPr wrap="square" lIns="0" tIns="0" rIns="0" bIns="0" rtlCol="0" anchor="t"/>
          <a:lstStyle/>
          <a:p>
            <a:pPr indent="0" marL="0">
              <a:buNone/>
            </a:pPr>
            <a:r>
              <a:rPr lang="en-US" sz="950" dirty="0">
                <a:solidFill>
                  <a:srgbClr val="EEF3EE"/>
                </a:solidFill>
                <a:latin typeface="Arial" pitchFamily="34" charset="0"/>
                <a:ea typeface="Arial" pitchFamily="34" charset="-122"/>
                <a:cs typeface="Arial" pitchFamily="34" charset="-120"/>
              </a:rPr>
              <a:t>Every one produced a plausible number. None raised an error, failed a test, or changed a row count. The loud failures — unknown_status, the NOT NULL at write — were the cheap ones. Put claims next to their evidence, and ask "is this physically possible?" before "does it run?".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2:00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24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TROUBLESHOOTING THE TOOLCHAIN</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WHAT EACH TOOL TAUGHT ME, THE HARD WAY</a:t>
            </a:r>
            <a:endParaRPr lang="en-US" sz="3400" dirty="0"/>
          </a:p>
        </p:txBody>
      </p:sp>
      <p:sp>
        <p:nvSpPr>
          <p:cNvPr id="7" name="Shape 4"/>
          <p:cNvSpPr/>
          <p:nvPr/>
        </p:nvSpPr>
        <p:spPr>
          <a:xfrm>
            <a:off x="457200" y="1298448"/>
            <a:ext cx="2651760" cy="3364992"/>
          </a:xfrm>
          <a:prstGeom prst="roundRect">
            <a:avLst>
              <a:gd name="adj" fmla="val 2069"/>
            </a:avLst>
          </a:prstGeom>
          <a:solidFill>
            <a:srgbClr val="16241F"/>
          </a:solidFill>
          <a:ln w="9525">
            <a:solidFill>
              <a:srgbClr val="2A3D34"/>
            </a:solidFill>
            <a:prstDash val="solid"/>
          </a:ln>
        </p:spPr>
      </p:sp>
      <p:sp>
        <p:nvSpPr>
          <p:cNvPr id="8" name="Text 5"/>
          <p:cNvSpPr txBox="1"/>
          <p:nvPr/>
        </p:nvSpPr>
        <p:spPr>
          <a:xfrm>
            <a:off x="594360" y="1389888"/>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KAFKA / REDPANDA</a:t>
            </a:r>
            <a:endParaRPr lang="en-US" sz="1400" dirty="0"/>
          </a:p>
        </p:txBody>
      </p:sp>
      <p:sp>
        <p:nvSpPr>
          <p:cNvPr id="9" name="Text 6"/>
          <p:cNvSpPr txBox="1"/>
          <p:nvPr/>
        </p:nvSpPr>
        <p:spPr>
          <a:xfrm>
            <a:off x="594360" y="1627632"/>
            <a:ext cx="2377440" cy="187452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Two detectors need two consumer groups, or one gets every message and the other none -- silently.</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produce() only QUEUES. Check the delivery report and flush()'s return, or a dead broker looks like success.</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The ADVERTISED address is what clients reconnect to; one listener cannot serve host and container.</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message.max.bytes is enforced client-side. Raise it on producer, topic, cluster AND consumer together.</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Reset the topic before measuring a parser change.</a:t>
            </a:r>
            <a:endParaRPr lang="en-US" sz="750" dirty="0"/>
          </a:p>
        </p:txBody>
      </p:sp>
      <p:sp>
        <p:nvSpPr>
          <p:cNvPr id="10" name="Text 7"/>
          <p:cNvSpPr txBox="1"/>
          <p:nvPr/>
        </p:nvSpPr>
        <p:spPr>
          <a:xfrm>
            <a:off x="594360" y="3502152"/>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GIT &amp; SHELL</a:t>
            </a:r>
            <a:endParaRPr lang="en-US" sz="1400" dirty="0"/>
          </a:p>
        </p:txBody>
      </p:sp>
      <p:sp>
        <p:nvSpPr>
          <p:cNvPr id="11" name="Text 8"/>
          <p:cNvSpPr txBox="1"/>
          <p:nvPr/>
        </p:nvSpPr>
        <p:spPr>
          <a:xfrm>
            <a:off x="594360" y="3739896"/>
            <a:ext cx="2377440" cy="86868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Piping tests through tail masked exit codes -- a broken build was committed. set -o pipefail.</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Two sessions in one working tree commit each other's files.</a:t>
            </a:r>
            <a:endParaRPr lang="en-US" sz="750" dirty="0"/>
          </a:p>
        </p:txBody>
      </p:sp>
      <p:sp>
        <p:nvSpPr>
          <p:cNvPr id="12" name="Shape 9"/>
          <p:cNvSpPr/>
          <p:nvPr/>
        </p:nvSpPr>
        <p:spPr>
          <a:xfrm>
            <a:off x="3246120" y="1298448"/>
            <a:ext cx="2651760" cy="3364992"/>
          </a:xfrm>
          <a:prstGeom prst="roundRect">
            <a:avLst>
              <a:gd name="adj" fmla="val 2069"/>
            </a:avLst>
          </a:prstGeom>
          <a:solidFill>
            <a:srgbClr val="16241F"/>
          </a:solidFill>
          <a:ln w="9525">
            <a:solidFill>
              <a:srgbClr val="2A3D34"/>
            </a:solidFill>
            <a:prstDash val="solid"/>
          </a:ln>
        </p:spPr>
      </p:sp>
      <p:sp>
        <p:nvSpPr>
          <p:cNvPr id="13" name="Text 10"/>
          <p:cNvSpPr txBox="1"/>
          <p:nvPr/>
        </p:nvSpPr>
        <p:spPr>
          <a:xfrm>
            <a:off x="3383280" y="1389888"/>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AIRFLOW</a:t>
            </a:r>
            <a:endParaRPr lang="en-US" sz="1400" dirty="0"/>
          </a:p>
        </p:txBody>
      </p:sp>
      <p:sp>
        <p:nvSpPr>
          <p:cNvPr id="14" name="Text 11"/>
          <p:cNvSpPr txBox="1"/>
          <p:nvPr/>
        </p:nvSpPr>
        <p:spPr>
          <a:xfrm>
            <a:off x="3383280" y="1627632"/>
            <a:ext cx="2377440" cy="160020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Keep the pipeline venv separate from Airflow's own; the DAG file imports nothing from the project.</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--env-file .env handed the host's JAVA_HOME to a Linux container: the JVM never started.</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A compose edit is not a running container -- the logs mount was declared but unapplied for days.</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standalone does NOT respawn the webserver: a 120 s gunicorn timeout killed the UI for eight hours.</a:t>
            </a:r>
            <a:endParaRPr lang="en-US" sz="750" dirty="0"/>
          </a:p>
        </p:txBody>
      </p:sp>
      <p:sp>
        <p:nvSpPr>
          <p:cNvPr id="15" name="Text 12"/>
          <p:cNvSpPr txBox="1"/>
          <p:nvPr/>
        </p:nvSpPr>
        <p:spPr>
          <a:xfrm>
            <a:off x="3383280" y="3227832"/>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SPARK</a:t>
            </a:r>
            <a:endParaRPr lang="en-US" sz="1400" dirty="0"/>
          </a:p>
        </p:txBody>
      </p:sp>
      <p:sp>
        <p:nvSpPr>
          <p:cNvPr id="16" name="Text 13"/>
          <p:cNvSpPr txBox="1"/>
          <p:nvPr/>
        </p:nvSpPr>
        <p:spPr>
          <a:xfrm>
            <a:off x="3383280" y="3465576"/>
            <a:ext cx="2377440" cy="96012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Windows has no Hadoop temp dir without winutils.exe -- run Spark in the image, never the host.</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Bound a long job (3,000 rows) before the 80-minute run.</a:t>
            </a:r>
            <a:endParaRPr lang="en-US" sz="750" dirty="0"/>
          </a:p>
        </p:txBody>
      </p:sp>
      <p:sp>
        <p:nvSpPr>
          <p:cNvPr id="17" name="Shape 14"/>
          <p:cNvSpPr/>
          <p:nvPr/>
        </p:nvSpPr>
        <p:spPr>
          <a:xfrm>
            <a:off x="6035040" y="1298448"/>
            <a:ext cx="2651760" cy="3364992"/>
          </a:xfrm>
          <a:prstGeom prst="roundRect">
            <a:avLst>
              <a:gd name="adj" fmla="val 2069"/>
            </a:avLst>
          </a:prstGeom>
          <a:solidFill>
            <a:srgbClr val="16241F"/>
          </a:solidFill>
          <a:ln w="9525">
            <a:solidFill>
              <a:srgbClr val="2A3D34"/>
            </a:solidFill>
            <a:prstDash val="solid"/>
          </a:ln>
        </p:spPr>
      </p:sp>
      <p:sp>
        <p:nvSpPr>
          <p:cNvPr id="18" name="Text 15"/>
          <p:cNvSpPr txBox="1"/>
          <p:nvPr/>
        </p:nvSpPr>
        <p:spPr>
          <a:xfrm>
            <a:off x="6172200" y="1389888"/>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SNOWFLAKE</a:t>
            </a:r>
            <a:endParaRPr lang="en-US" sz="1400" dirty="0"/>
          </a:p>
        </p:txBody>
      </p:sp>
      <p:sp>
        <p:nvSpPr>
          <p:cNvPr id="19" name="Text 16"/>
          <p:cNvSpPr txBox="1"/>
          <p:nvPr/>
        </p:nvSpPr>
        <p:spPr>
          <a:xfrm>
            <a:off x="6172200" y="1627632"/>
            <a:ext cx="2377440" cy="123444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PRIMARY KEY is documentation; MERGE on natural keys.</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Session timezone is LA by default; TIMESTAMP_TZ keeps the writer's offset.</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Cortex AI functions refuse trial accounts.</a:t>
            </a:r>
            <a:endParaRPr lang="en-US" sz="750" dirty="0"/>
          </a:p>
        </p:txBody>
      </p:sp>
      <p:sp>
        <p:nvSpPr>
          <p:cNvPr id="20" name="Text 17"/>
          <p:cNvSpPr txBox="1"/>
          <p:nvPr/>
        </p:nvSpPr>
        <p:spPr>
          <a:xfrm>
            <a:off x="6172200" y="2862072"/>
            <a:ext cx="237744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DBT</a:t>
            </a:r>
            <a:endParaRPr lang="en-US" sz="1400" dirty="0"/>
          </a:p>
        </p:txBody>
      </p:sp>
      <p:sp>
        <p:nvSpPr>
          <p:cNvPr id="21" name="Text 18"/>
          <p:cNvSpPr txBox="1"/>
          <p:nvPr/>
        </p:nvSpPr>
        <p:spPr>
          <a:xfrm>
            <a:off x="6172200" y="3099816"/>
            <a:ext cx="2377440" cy="1325880"/>
          </a:xfrm>
          <a:prstGeom prst="rect">
            <a:avLst/>
          </a:prstGeom>
          <a:noFill/>
          <a:ln/>
        </p:spPr>
        <p:txBody>
          <a:bodyPr wrap="square" lIns="254" tIns="254" rIns="254" bIns="254" rtlCol="0" anchor="t"/>
          <a:lstStyle/>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Separate who writes what: CORE vs ANALYTICS. A full-refresh must never drop paid work.</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A relationships test encodes an assumption -- dim_market is the crosswalk, so warn, do not fail.</a:t>
            </a:r>
            <a:endParaRPr lang="en-US" sz="750" dirty="0"/>
          </a:p>
          <a:p>
            <a:pPr marL="342900" indent="-342900">
              <a:spcAft>
                <a:spcPts val="400"/>
              </a:spcAft>
              <a:buSzPct val="100000"/>
              <a:buChar char="•"/>
            </a:pPr>
            <a:r>
              <a:rPr lang="en-US" sz="750" dirty="0">
                <a:solidFill>
                  <a:srgbClr val="EEF3EE"/>
                </a:solidFill>
                <a:latin typeface="Arial" pitchFamily="34" charset="0"/>
                <a:ea typeface="Arial" pitchFamily="34" charset="-122"/>
                <a:cs typeface="Arial" pitchFamily="34" charset="-120"/>
              </a:rPr>
              <a:t>QUALIFY every append-only source before joining it.</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1:30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25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PRINCIPLES</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FOUR ACRONYMS, APPLIED — NOT RECITED</a:t>
            </a:r>
            <a:endParaRPr lang="en-US" sz="3400" dirty="0"/>
          </a:p>
        </p:txBody>
      </p:sp>
      <p:sp>
        <p:nvSpPr>
          <p:cNvPr id="7" name="Shape 4"/>
          <p:cNvSpPr/>
          <p:nvPr/>
        </p:nvSpPr>
        <p:spPr>
          <a:xfrm>
            <a:off x="457200" y="1371600"/>
            <a:ext cx="402336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YAGNI — YOU AREN'T GONNA NEED IT</a:t>
            </a:r>
            <a:endParaRPr lang="en-US" sz="1400" dirty="0"/>
          </a:p>
        </p:txBody>
      </p:sp>
      <p:sp>
        <p:nvSpPr>
          <p:cNvPr id="9" name="Text 6"/>
          <p:cNvSpPr txBox="1"/>
          <p:nvPr/>
        </p:nvSpPr>
        <p:spPr>
          <a:xfrm>
            <a:off x="640080" y="1783080"/>
            <a:ext cx="3657600" cy="822960"/>
          </a:xfrm>
          <a:prstGeom prst="rect">
            <a:avLst/>
          </a:prstGeom>
          <a:noFill/>
          <a:ln/>
        </p:spPr>
        <p:txBody>
          <a:bodyPr wrap="square" lIns="0" tIns="0" rIns="0" bIns="0" rtlCol="0" anchor="t"/>
          <a:lstStyle/>
          <a:p>
            <a:pPr indent="0" marL="0">
              <a:buNone/>
            </a:pPr>
            <a:r>
              <a:rPr lang="en-US" sz="1000" dirty="0">
                <a:solidFill>
                  <a:srgbClr val="EEF3EE"/>
                </a:solidFill>
                <a:latin typeface="Arial" pitchFamily="34" charset="0"/>
                <a:ea typeface="Arial" pitchFamily="34" charset="-122"/>
                <a:cs typeface="Arial" pitchFamily="34" charset="-120"/>
              </a:rPr>
              <a:t>A 16-hour phased crosswalk rebuild was proposed; the crosswalk CSV turned out to exist. Build for the case in front of you.</a:t>
            </a:r>
            <a:endParaRPr lang="en-US" sz="1000" dirty="0"/>
          </a:p>
        </p:txBody>
      </p:sp>
      <p:sp>
        <p:nvSpPr>
          <p:cNvPr id="10" name="Text 7"/>
          <p:cNvSpPr txBox="1"/>
          <p:nvPr/>
        </p:nvSpPr>
        <p:spPr>
          <a:xfrm>
            <a:off x="640080" y="2788920"/>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KISS — KEEP IT SIMPLE, STUPID</a:t>
            </a:r>
            <a:endParaRPr lang="en-US" sz="1400" dirty="0"/>
          </a:p>
        </p:txBody>
      </p:sp>
      <p:sp>
        <p:nvSpPr>
          <p:cNvPr id="11" name="Text 8"/>
          <p:cNvSpPr txBox="1"/>
          <p:nvPr/>
        </p:nvSpPr>
        <p:spPr>
          <a:xfrm>
            <a:off x="640080" y="3090672"/>
            <a:ext cx="3657600" cy="1371600"/>
          </a:xfrm>
          <a:prstGeom prst="rect">
            <a:avLst/>
          </a:prstGeom>
          <a:noFill/>
          <a:ln/>
        </p:spPr>
        <p:txBody>
          <a:bodyPr wrap="square" lIns="0" tIns="0" rIns="0" bIns="0" rtlCol="0" anchor="t"/>
          <a:lstStyle/>
          <a:p>
            <a:pPr indent="0" marL="0">
              <a:buNone/>
            </a:pPr>
            <a:r>
              <a:rPr lang="en-US" sz="1000" dirty="0">
                <a:solidFill>
                  <a:srgbClr val="EEF3EE"/>
                </a:solidFill>
                <a:latin typeface="Arial" pitchFamily="34" charset="0"/>
                <a:ea typeface="Arial" pitchFamily="34" charset="-122"/>
                <a:cs typeface="Arial" pitchFamily="34" charset="-120"/>
              </a:rPr>
              <a:t>The watcher is one polling loop composing four existing functions — no new queue, no new service. Spark was skipped for the tick extractor: 5,000 payloads is a for-loop.</a:t>
            </a:r>
            <a:endParaRPr lang="en-US" sz="1000" dirty="0"/>
          </a:p>
        </p:txBody>
      </p:sp>
      <p:sp>
        <p:nvSpPr>
          <p:cNvPr id="12" name="Shape 9"/>
          <p:cNvSpPr/>
          <p:nvPr/>
        </p:nvSpPr>
        <p:spPr>
          <a:xfrm>
            <a:off x="4663440" y="1371600"/>
            <a:ext cx="4023360" cy="3246120"/>
          </a:xfrm>
          <a:prstGeom prst="roundRect">
            <a:avLst>
              <a:gd name="adj" fmla="val 1690"/>
            </a:avLst>
          </a:prstGeom>
          <a:solidFill>
            <a:srgbClr val="16241F"/>
          </a:solidFill>
          <a:ln w="9525">
            <a:solidFill>
              <a:srgbClr val="2A3D34"/>
            </a:solidFill>
            <a:prstDash val="solid"/>
          </a:ln>
        </p:spPr>
      </p:sp>
      <p:sp>
        <p:nvSpPr>
          <p:cNvPr id="13" name="Text 10"/>
          <p:cNvSpPr txBox="1"/>
          <p:nvPr/>
        </p:nvSpPr>
        <p:spPr>
          <a:xfrm>
            <a:off x="484632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DRY — DON'T REPEAT YOURSELF</a:t>
            </a:r>
            <a:endParaRPr lang="en-US" sz="1400" dirty="0"/>
          </a:p>
        </p:txBody>
      </p:sp>
      <p:sp>
        <p:nvSpPr>
          <p:cNvPr id="14" name="Text 11"/>
          <p:cNvSpPr txBox="1"/>
          <p:nvPr/>
        </p:nvSpPr>
        <p:spPr>
          <a:xfrm>
            <a:off x="4846320" y="1783080"/>
            <a:ext cx="3657600" cy="822960"/>
          </a:xfrm>
          <a:prstGeom prst="rect">
            <a:avLst/>
          </a:prstGeom>
          <a:noFill/>
          <a:ln/>
        </p:spPr>
        <p:txBody>
          <a:bodyPr wrap="square" lIns="0" tIns="0" rIns="0" bIns="0" rtlCol="0" anchor="t"/>
          <a:lstStyle/>
          <a:p>
            <a:pPr indent="0" marL="0">
              <a:buNone/>
            </a:pPr>
            <a:r>
              <a:rPr lang="en-US" sz="1000" dirty="0">
                <a:solidFill>
                  <a:srgbClr val="EEF3EE"/>
                </a:solidFill>
                <a:latin typeface="Arial" pitchFamily="34" charset="0"/>
                <a:ea typeface="Arial" pitchFamily="34" charset="-122"/>
                <a:cs typeface="Arial" pitchFamily="34" charset="-120"/>
              </a:rPr>
              <a:t>One MERGE builder for every write; one crosswalk parses both the live signals and the historical ticks, so a chart that disagrees with a signal is a real disagreement.</a:t>
            </a:r>
            <a:endParaRPr lang="en-US" sz="1000" dirty="0"/>
          </a:p>
        </p:txBody>
      </p:sp>
      <p:sp>
        <p:nvSpPr>
          <p:cNvPr id="15" name="Text 12"/>
          <p:cNvSpPr txBox="1"/>
          <p:nvPr/>
        </p:nvSpPr>
        <p:spPr>
          <a:xfrm>
            <a:off x="4846320" y="2788920"/>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SOLID</a:t>
            </a:r>
            <a:endParaRPr lang="en-US" sz="1400" dirty="0"/>
          </a:p>
        </p:txBody>
      </p:sp>
      <p:sp>
        <p:nvSpPr>
          <p:cNvPr id="16" name="Text 13"/>
          <p:cNvSpPr txBox="1"/>
          <p:nvPr/>
        </p:nvSpPr>
        <p:spPr>
          <a:xfrm>
            <a:off x="4846320" y="3090672"/>
            <a:ext cx="3657600" cy="1371600"/>
          </a:xfrm>
          <a:prstGeom prst="rect">
            <a:avLst/>
          </a:prstGeom>
          <a:noFill/>
          <a:ln/>
        </p:spPr>
        <p:txBody>
          <a:bodyPr wrap="square" lIns="0" tIns="0" rIns="0" bIns="0" rtlCol="0" anchor="t"/>
          <a:lstStyle/>
          <a:p>
            <a:pPr indent="0" marL="0">
              <a:buNone/>
            </a:pPr>
            <a:r>
              <a:rPr lang="en-US" sz="1000" dirty="0">
                <a:solidFill>
                  <a:srgbClr val="EEF3EE"/>
                </a:solidFill>
                <a:latin typeface="Arial" pitchFamily="34" charset="0"/>
                <a:ea typeface="Arial" pitchFamily="34" charset="-122"/>
                <a:cs typeface="Arial" pitchFamily="34" charset="-120"/>
              </a:rPr>
              <a:t>Single responsibility · Open/closed · Liskov substitution · Interface segregation · Dependency inversion. The LLM sits behind a swappable boundary (Cortex → OpenAI was a one-file change). Prompt building is separate from the API call because the prompt is where the decisions are.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1:45</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26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METHOD &amp; AUTHORSHIP</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AI-ASSISTED DEVELOPMENT, HONESTLY</a:t>
            </a:r>
            <a:endParaRPr lang="en-US" sz="3400" dirty="0"/>
          </a:p>
        </p:txBody>
      </p:sp>
      <p:sp>
        <p:nvSpPr>
          <p:cNvPr id="7" name="Shape 4"/>
          <p:cNvSpPr/>
          <p:nvPr/>
        </p:nvSpPr>
        <p:spPr>
          <a:xfrm>
            <a:off x="457200" y="1371600"/>
            <a:ext cx="402336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HOW THE WORK WAS DONE</a:t>
            </a:r>
            <a:endParaRPr lang="en-US" sz="1400" dirty="0"/>
          </a:p>
        </p:txBody>
      </p:sp>
      <p:sp>
        <p:nvSpPr>
          <p:cNvPr id="9" name="Text 6"/>
          <p:cNvSpPr txBox="1"/>
          <p:nvPr/>
        </p:nvSpPr>
        <p:spPr>
          <a:xfrm>
            <a:off x="640080" y="1783080"/>
            <a:ext cx="3657600" cy="2011680"/>
          </a:xfrm>
          <a:prstGeom prst="rect">
            <a:avLst/>
          </a:prstGeom>
          <a:noFill/>
          <a:ln/>
        </p:spPr>
        <p:txBody>
          <a:bodyPr wrap="square" lIns="254" tIns="254" rIns="254" bIns="254" rtlCol="0" anchor="t"/>
          <a:lstStyle/>
          <a:p>
            <a:pPr marL="342900" indent="-342900">
              <a:spcAft>
                <a:spcPts val="400"/>
              </a:spcAft>
              <a:buSzPct val="100000"/>
              <a:buChar char="•"/>
            </a:pPr>
            <a:r>
              <a:rPr lang="en-US" sz="950" dirty="0">
                <a:solidFill>
                  <a:srgbClr val="EEF3EE"/>
                </a:solidFill>
                <a:latin typeface="Arial" pitchFamily="34" charset="0"/>
                <a:ea typeface="Arial" pitchFamily="34" charset="-122"/>
                <a:cs typeface="Arial" pitchFamily="34" charset="-120"/>
              </a:rPr>
              <a:t>A </a:t>
            </a:r>
            <a:pPr indent="0" marL="0">
              <a:buNone/>
            </a:pPr>
            <a:r>
              <a:rPr lang="en-US" sz="950" b="1" dirty="0">
                <a:solidFill>
                  <a:srgbClr val="F2B33D"/>
                </a:solidFill>
                <a:latin typeface="Arial" pitchFamily="34" charset="0"/>
                <a:ea typeface="Arial" pitchFamily="34" charset="-122"/>
                <a:cs typeface="Arial" pitchFamily="34" charset="-120"/>
              </a:rPr>
              <a:t>spec-driven coordinator → implementor → verifier</a:t>
            </a:r>
            <a:pPr indent="0" marL="0">
              <a:buNone/>
            </a:pPr>
            <a:r>
              <a:rPr lang="en-US" sz="950" dirty="0">
                <a:solidFill>
                  <a:srgbClr val="EEF3EE"/>
                </a:solidFill>
                <a:latin typeface="Arial" pitchFamily="34" charset="0"/>
                <a:ea typeface="Arial" pitchFamily="34" charset="-122"/>
                <a:cs typeface="Arial" pitchFamily="34" charset="-120"/>
              </a:rPr>
              <a:t> loop. I wrote the architecture, the specifications and the acceptance checks; AI implementors wrote much of the code against them; I reviewed and verified.</a:t>
            </a:r>
            <a:endParaRPr lang="en-US" sz="950" dirty="0"/>
          </a:p>
          <a:p>
            <a:pPr marL="342900" indent="-342900">
              <a:spcAft>
                <a:spcPts val="400"/>
              </a:spcAft>
              <a:buSzPct val="100000"/>
              <a:buChar char="•"/>
            </a:pPr>
            <a:r>
              <a:rPr lang="en-US" sz="950" dirty="0">
                <a:solidFill>
                  <a:srgbClr val="EEF3EE"/>
                </a:solidFill>
                <a:latin typeface="Arial" pitchFamily="34" charset="0"/>
                <a:ea typeface="Arial" pitchFamily="34" charset="-122"/>
                <a:cs typeface="Arial" pitchFamily="34" charset="-120"/>
              </a:rPr>
              <a:t>Used deliberately to </a:t>
            </a:r>
            <a:pPr indent="0" marL="0">
              <a:buNone/>
            </a:pPr>
            <a:r>
              <a:rPr lang="en-US" sz="950" b="1" dirty="0">
                <a:solidFill>
                  <a:srgbClr val="F2B33D"/>
                </a:solidFill>
                <a:latin typeface="Arial" pitchFamily="34" charset="0"/>
                <a:ea typeface="Arial" pitchFamily="34" charset="-122"/>
                <a:cs typeface="Arial" pitchFamily="34" charset="-120"/>
              </a:rPr>
              <a:t>improve a monolith I had already built</a:t>
            </a:r>
            <a:pPr indent="0" marL="0">
              <a:buNone/>
            </a:pPr>
            <a:r>
              <a:rPr lang="en-US" sz="950" dirty="0">
                <a:solidFill>
                  <a:srgbClr val="EEF3EE"/>
                </a:solidFill>
                <a:latin typeface="Arial" pitchFamily="34" charset="0"/>
                <a:ea typeface="Arial" pitchFamily="34" charset="-122"/>
                <a:cs typeface="Arial" pitchFamily="34" charset="-120"/>
              </a:rPr>
              <a:t> — the API-Football ingestor's README calls itself "a disciplined rebuild of an earlier monolith".</a:t>
            </a:r>
            <a:endParaRPr lang="en-US" sz="950" dirty="0"/>
          </a:p>
          <a:p>
            <a:pPr marL="342900" indent="-342900">
              <a:spcAft>
                <a:spcPts val="400"/>
              </a:spcAft>
              <a:buSzPct val="100000"/>
              <a:buChar char="•"/>
            </a:pPr>
            <a:r>
              <a:rPr lang="en-US" sz="950" dirty="0">
                <a:solidFill>
                  <a:srgbClr val="EEF3EE"/>
                </a:solidFill>
                <a:latin typeface="Arial" pitchFamily="34" charset="0"/>
                <a:ea typeface="Arial" pitchFamily="34" charset="-122"/>
                <a:cs typeface="Arial" pitchFamily="34" charset="-120"/>
              </a:rPr>
              <a:t>Every finding, trap and convention is written down in a 900-line FINDINGS.md as part of the work, not after it.</a:t>
            </a:r>
            <a:endParaRPr lang="en-US" sz="950" dirty="0"/>
          </a:p>
        </p:txBody>
      </p:sp>
      <p:sp>
        <p:nvSpPr>
          <p:cNvPr id="10" name="Shape 7"/>
          <p:cNvSpPr/>
          <p:nvPr/>
        </p:nvSpPr>
        <p:spPr>
          <a:xfrm>
            <a:off x="640080" y="3977640"/>
            <a:ext cx="3657600" cy="457200"/>
          </a:xfrm>
          <a:prstGeom prst="roundRect">
            <a:avLst>
              <a:gd name="adj" fmla="val 8000"/>
            </a:avLst>
          </a:prstGeom>
          <a:solidFill>
            <a:srgbClr val="0E1A16"/>
          </a:solidFill>
          <a:ln w="12700">
            <a:solidFill>
              <a:srgbClr val="F2B33D"/>
            </a:solidFill>
            <a:prstDash val="dash"/>
          </a:ln>
        </p:spPr>
      </p:sp>
      <p:sp>
        <p:nvSpPr>
          <p:cNvPr id="11" name="Text 8"/>
          <p:cNvSpPr txBox="1"/>
          <p:nvPr/>
        </p:nvSpPr>
        <p:spPr>
          <a:xfrm>
            <a:off x="731520" y="3977640"/>
            <a:ext cx="3474720" cy="457200"/>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[WHICH REPO, WHAT AI CHANGED]</a:t>
            </a:r>
            <a:endParaRPr lang="en-US" sz="850" dirty="0"/>
          </a:p>
        </p:txBody>
      </p:sp>
      <p:sp>
        <p:nvSpPr>
          <p:cNvPr id="12" name="Shape 9"/>
          <p:cNvSpPr/>
          <p:nvPr/>
        </p:nvSpPr>
        <p:spPr>
          <a:xfrm>
            <a:off x="4663440" y="1371600"/>
            <a:ext cx="4023360" cy="3246120"/>
          </a:xfrm>
          <a:prstGeom prst="roundRect">
            <a:avLst>
              <a:gd name="adj" fmla="val 1690"/>
            </a:avLst>
          </a:prstGeom>
          <a:solidFill>
            <a:srgbClr val="16241F"/>
          </a:solidFill>
          <a:ln w="15875">
            <a:solidFill>
              <a:srgbClr val="F2B33D"/>
            </a:solidFill>
            <a:prstDash val="solid"/>
          </a:ln>
        </p:spPr>
      </p:sp>
      <p:sp>
        <p:nvSpPr>
          <p:cNvPr id="13" name="Text 10"/>
          <p:cNvSpPr txBox="1"/>
          <p:nvPr/>
        </p:nvSpPr>
        <p:spPr>
          <a:xfrm>
            <a:off x="484632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WHAT IS MINE, REUSED, AND NEW</a:t>
            </a:r>
            <a:endParaRPr lang="en-US" sz="1400" dirty="0"/>
          </a:p>
        </p:txBody>
      </p:sp>
      <p:sp>
        <p:nvSpPr>
          <p:cNvPr id="14" name="Text 11"/>
          <p:cNvSpPr txBox="1"/>
          <p:nvPr/>
        </p:nvSpPr>
        <p:spPr>
          <a:xfrm>
            <a:off x="4846320" y="1783080"/>
            <a:ext cx="3657600" cy="2743200"/>
          </a:xfrm>
          <a:prstGeom prst="rect">
            <a:avLst/>
          </a:prstGeom>
          <a:noFill/>
          <a:ln/>
        </p:spPr>
        <p:txBody>
          <a:bodyPr wrap="square" lIns="254" tIns="254" rIns="254" bIns="254" rtlCol="0" anchor="t"/>
          <a:lstStyle/>
          <a:p>
            <a:pPr marL="342900" indent="-342900">
              <a:spcAft>
                <a:spcPts val="400"/>
              </a:spcAft>
              <a:buSzPct val="100000"/>
              <a:buChar char="•"/>
            </a:pPr>
            <a:r>
              <a:rPr lang="en-US" sz="950" b="1" dirty="0">
                <a:solidFill>
                  <a:srgbClr val="F2B33D"/>
                </a:solidFill>
                <a:latin typeface="Arial" pitchFamily="34" charset="0"/>
                <a:ea typeface="Arial" pitchFamily="34" charset="-122"/>
                <a:cs typeface="Arial" pitchFamily="34" charset="-120"/>
              </a:rPr>
              <a:t>Reused:</a:t>
            </a:r>
            <a:pPr indent="0" marL="0">
              <a:buNone/>
            </a:pPr>
            <a:r>
              <a:rPr lang="en-US" sz="950" dirty="0">
                <a:solidFill>
                  <a:srgbClr val="EEF3EE"/>
                </a:solidFill>
                <a:latin typeface="Arial" pitchFamily="34" charset="0"/>
                <a:ea typeface="Arial" pitchFamily="34" charset="-122"/>
                <a:cs typeface="Arial" pitchFamily="34" charset="-120"/>
              </a:rPr>
              <a:t> the bronze collection layer, the matcher, the five parsers, the 236-row crosswalk, the arbitrage/EV engine, the 4,874-line settlement engine.</a:t>
            </a:r>
            <a:endParaRPr lang="en-US" sz="950" dirty="0"/>
          </a:p>
          <a:p>
            <a:pPr marL="342900" indent="-342900">
              <a:spcAft>
                <a:spcPts val="400"/>
              </a:spcAft>
              <a:buSzPct val="100000"/>
              <a:buChar char="•"/>
            </a:pPr>
            <a:r>
              <a:rPr lang="en-US" sz="950" b="1" dirty="0">
                <a:solidFill>
                  <a:srgbClr val="F2B33D"/>
                </a:solidFill>
                <a:latin typeface="Arial" pitchFamily="34" charset="0"/>
                <a:ea typeface="Arial" pitchFamily="34" charset="-122"/>
                <a:cs typeface="Arial" pitchFamily="34" charset="-120"/>
              </a:rPr>
              <a:t>New in the capstone:</a:t>
            </a:r>
            <a:pPr indent="0" marL="0">
              <a:buNone/>
            </a:pPr>
            <a:r>
              <a:rPr lang="en-US" sz="950" dirty="0">
                <a:solidFill>
                  <a:srgbClr val="EEF3EE"/>
                </a:solidFill>
                <a:latin typeface="Arial" pitchFamily="34" charset="0"/>
                <a:ea typeface="Arial" pitchFamily="34" charset="-122"/>
                <a:cs typeface="Arial" pitchFamily="34" charset="-120"/>
              </a:rPr>
              <a:t> producer, consumers, watcher, warehouse schema, Spark jobs, slip ingest, every dbt model, both LLM tasks, CI, the DAG, the dashboard.</a:t>
            </a:r>
            <a:endParaRPr lang="en-US" sz="950" dirty="0"/>
          </a:p>
          <a:p>
            <a:pPr marL="342900" indent="-342900">
              <a:spcAft>
                <a:spcPts val="400"/>
              </a:spcAft>
              <a:buSzPct val="100000"/>
              <a:buChar char="•"/>
            </a:pPr>
            <a:r>
              <a:rPr lang="en-US" sz="950" b="1" dirty="0">
                <a:solidFill>
                  <a:srgbClr val="F2B33D"/>
                </a:solidFill>
                <a:latin typeface="Arial" pitchFamily="34" charset="0"/>
                <a:ea typeface="Arial" pitchFamily="34" charset="-122"/>
                <a:cs typeface="Arial" pitchFamily="34" charset="-120"/>
              </a:rPr>
              <a:t>Collector:</a:t>
            </a:r>
            <a:pPr indent="0" marL="0">
              <a:buNone/>
            </a:pPr>
            <a:r>
              <a:rPr lang="en-US" sz="950" dirty="0">
                <a:solidFill>
                  <a:srgbClr val="EEF3EE"/>
                </a:solidFill>
                <a:latin typeface="Arial" pitchFamily="34" charset="0"/>
                <a:ea typeface="Arial" pitchFamily="34" charset="-122"/>
                <a:cs typeface="Arial" pitchFamily="34" charset="-120"/>
              </a:rPr>
              <a:t> inherited v1; my Mongo→Postgres migration, team-ID extraction, event-ID collision fix.</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1:00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27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COSTS</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WHAT IT COST TO RUN</a:t>
            </a:r>
            <a:endParaRPr lang="en-US" sz="3400" dirty="0"/>
          </a:p>
        </p:txBody>
      </p:sp>
      <p:sp>
        <p:nvSpPr>
          <p:cNvPr id="7" name="Shape 4"/>
          <p:cNvSpPr/>
          <p:nvPr/>
        </p:nvSpPr>
        <p:spPr>
          <a:xfrm>
            <a:off x="457200" y="1371600"/>
            <a:ext cx="5120640" cy="3246120"/>
          </a:xfrm>
          <a:prstGeom prst="roundRect">
            <a:avLst>
              <a:gd name="adj" fmla="val 1690"/>
            </a:avLst>
          </a:prstGeom>
          <a:solidFill>
            <a:srgbClr val="16241F"/>
          </a:solidFill>
          <a:ln w="9525">
            <a:solidFill>
              <a:srgbClr val="2A3D34"/>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4754880" cy="914400"/>
        </p:xfrm>
        <a:graphic>
          <a:graphicData uri="http://schemas.openxmlformats.org/drawingml/2006/table">
            <a:tbl>
              <a:tblPr/>
              <a:tblGrid>
                <a:gridCol w="1554480"/>
                <a:gridCol w="2011680"/>
                <a:gridCol w="1188720"/>
              </a:tblGrid>
              <a:tr h="0">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COMPONENT</a:t>
                      </a:r>
                      <a:endParaRPr lang="en-US" sz="700" dirty="0">
                        <a:latin typeface="Courier New" charset="0"/>
                        <a:ea typeface="Courier New" charset="0"/>
                        <a:cs typeface="Courier New"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USAGE</a:t>
                      </a:r>
                      <a:endParaRPr lang="en-US" sz="700" dirty="0">
                        <a:latin typeface="Courier New" charset="0"/>
                        <a:ea typeface="Courier New" charset="0"/>
                        <a:cs typeface="Courier New"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700" b="1" dirty="0">
                          <a:solidFill>
                            <a:srgbClr val="9DB0A6"/>
                          </a:solidFill>
                          <a:latin typeface="Courier New" pitchFamily="34" charset="0"/>
                          <a:ea typeface="Courier New" pitchFamily="34" charset="-122"/>
                          <a:cs typeface="Courier New" pitchFamily="34" charset="-120"/>
                        </a:rPr>
                        <a:t>COST</a:t>
                      </a:r>
                      <a:endParaRPr lang="en-US" sz="700" dirty="0">
                        <a:latin typeface="Courier New" charset="0"/>
                        <a:ea typeface="Courier New" charset="0"/>
                        <a:cs typeface="Courier New"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Snowflake</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9.27 credits over 3 active days · 0.05 GB stored</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$0 — 30-day trial credit</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OpenAI gpt-4o-mini</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a few hundred calls (slip verdicts + fixture briefs)</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 $0.30 (estimate)</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Redpanda, Airflow, Postgres, Spark</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local containers</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Streamlit Community Cloud</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r h="0">
                <a:tc>
                  <a:txBody>
                    <a:bodyPr/>
                    <a:lstStyle/>
                    <a:p>
                      <a:pPr indent="0" marL="0">
                        <a:buNone/>
                      </a:pPr>
                      <a:r>
                        <a:rPr lang="en-US" sz="900" dirty="0">
                          <a:solidFill>
                            <a:srgbClr val="EEF3EE"/>
                          </a:solidFill>
                          <a:latin typeface="Arial" pitchFamily="34" charset="0"/>
                          <a:ea typeface="Arial" pitchFamily="34" charset="-122"/>
                          <a:cs typeface="Arial" pitchFamily="34" charset="-120"/>
                        </a:rPr>
                        <a:t>Cold parquet lake</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43 GB local disk</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c>
                  <a:txBody>
                    <a:bodyPr/>
                    <a:lstStyle/>
                    <a:p>
                      <a:pPr indent="0" marL="0">
                        <a:buNone/>
                      </a:pPr>
                      <a:r>
                        <a:rPr lang="en-US" sz="900" dirty="0">
                          <a:solidFill>
                            <a:srgbClr val="EEF3EE"/>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45720" marR="45720" marT="45720" marB="45720" anchor="t">
                    <a:lnL w="6350" cap="flat" cmpd="sng" algn="ctr">
                      <a:solidFill>
                        <a:srgbClr val="2A3D34"/>
                      </a:solidFill>
                      <a:prstDash val="solid"/>
                      <a:round/>
                      <a:headEnd type="none" w="med" len="med"/>
                      <a:tailEnd type="none" w="med" len="med"/>
                    </a:lnL>
                    <a:lnR w="6350" cap="flat" cmpd="sng" algn="ctr">
                      <a:solidFill>
                        <a:srgbClr val="2A3D34"/>
                      </a:solidFill>
                      <a:prstDash val="solid"/>
                      <a:round/>
                      <a:headEnd type="none" w="med" len="med"/>
                      <a:tailEnd type="none" w="med" len="med"/>
                    </a:lnR>
                    <a:lnT w="6350" cap="flat" cmpd="sng" algn="ctr">
                      <a:solidFill>
                        <a:srgbClr val="2A3D34"/>
                      </a:solidFill>
                      <a:prstDash val="solid"/>
                      <a:round/>
                      <a:headEnd type="none" w="med" len="med"/>
                      <a:tailEnd type="none" w="med" len="med"/>
                    </a:lnT>
                    <a:lnB w="6350" cap="flat" cmpd="sng" algn="ctr">
                      <a:solidFill>
                        <a:srgbClr val="2A3D34"/>
                      </a:solidFill>
                      <a:prstDash val="solid"/>
                      <a:round/>
                      <a:headEnd type="none" w="med" len="med"/>
                      <a:tailEnd type="none" w="med" len="med"/>
                    </a:lnB>
                    <a:solidFill>
                      <a:srgbClr val="16241F"/>
                    </a:solidFill>
                  </a:tcPr>
                </a:tc>
              </a:tr>
            </a:tbl>
          </a:graphicData>
        </a:graphic>
      </p:graphicFrame>
      <p:sp>
        <p:nvSpPr>
          <p:cNvPr id="9" name="Shape 5"/>
          <p:cNvSpPr/>
          <p:nvPr/>
        </p:nvSpPr>
        <p:spPr>
          <a:xfrm>
            <a:off x="5760720" y="1371600"/>
            <a:ext cx="2926080" cy="3246120"/>
          </a:xfrm>
          <a:prstGeom prst="roundRect">
            <a:avLst>
              <a:gd name="adj" fmla="val 1875"/>
            </a:avLst>
          </a:prstGeom>
          <a:solidFill>
            <a:srgbClr val="16241F"/>
          </a:solidFill>
          <a:ln w="9525">
            <a:solidFill>
              <a:srgbClr val="2A3D34"/>
            </a:solidFill>
            <a:prstDash val="solid"/>
          </a:ln>
        </p:spPr>
      </p:sp>
      <p:sp>
        <p:nvSpPr>
          <p:cNvPr id="10" name="Text 6"/>
          <p:cNvSpPr txBox="1"/>
          <p:nvPr/>
        </p:nvSpPr>
        <p:spPr>
          <a:xfrm>
            <a:off x="5943600" y="1481328"/>
            <a:ext cx="256032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LOCAL MACHINE POWER</a:t>
            </a:r>
            <a:endParaRPr lang="en-US" sz="1400" dirty="0"/>
          </a:p>
        </p:txBody>
      </p:sp>
      <p:sp>
        <p:nvSpPr>
          <p:cNvPr id="11" name="Shape 7"/>
          <p:cNvSpPr/>
          <p:nvPr/>
        </p:nvSpPr>
        <p:spPr>
          <a:xfrm>
            <a:off x="5943600" y="1783080"/>
            <a:ext cx="2560320" cy="1188720"/>
          </a:xfrm>
          <a:prstGeom prst="roundRect">
            <a:avLst>
              <a:gd name="adj" fmla="val 3077"/>
            </a:avLst>
          </a:prstGeom>
          <a:solidFill>
            <a:srgbClr val="0E1A16"/>
          </a:solidFill>
          <a:ln w="12700">
            <a:solidFill>
              <a:srgbClr val="F2B33D"/>
            </a:solidFill>
            <a:prstDash val="dash"/>
          </a:ln>
        </p:spPr>
      </p:sp>
      <p:sp>
        <p:nvSpPr>
          <p:cNvPr id="12" name="Text 8"/>
          <p:cNvSpPr txBox="1"/>
          <p:nvPr/>
        </p:nvSpPr>
        <p:spPr>
          <a:xfrm>
            <a:off x="6035040" y="1783080"/>
            <a:ext cx="2377440" cy="1188720"/>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[YOUR INPUT] kWh / average watts during the 80-minute Spark runs and the collection window; the tool you measured with</a:t>
            </a:r>
            <a:endParaRPr lang="en-US" sz="850" dirty="0"/>
          </a:p>
        </p:txBody>
      </p:sp>
      <p:sp>
        <p:nvSpPr>
          <p:cNvPr id="13" name="Text 9"/>
          <p:cNvSpPr txBox="1"/>
          <p:nvPr/>
        </p:nvSpPr>
        <p:spPr>
          <a:xfrm>
            <a:off x="5943600" y="3108960"/>
            <a:ext cx="2560320" cy="1371600"/>
          </a:xfrm>
          <a:prstGeom prst="rect">
            <a:avLst/>
          </a:prstGeom>
          <a:noFill/>
          <a:ln/>
        </p:spPr>
        <p:txBody>
          <a:bodyPr wrap="square" lIns="0" tIns="0" rIns="0" bIns="0" rtlCol="0" anchor="t"/>
          <a:lstStyle/>
          <a:p>
            <a:pPr indent="0" marL="0">
              <a:buNone/>
            </a:pPr>
            <a:r>
              <a:rPr lang="en-US" sz="900" dirty="0">
                <a:solidFill>
                  <a:srgbClr val="9DB0A6"/>
                </a:solidFill>
                <a:latin typeface="Arial" pitchFamily="34" charset="0"/>
                <a:ea typeface="Arial" pitchFamily="34" charset="-122"/>
                <a:cs typeface="Arial" pitchFamily="34" charset="-120"/>
              </a:rPr>
              <a:t>Snowflake Cortex would have been $0 and was the original plan; it is unavailable on trial accounts, so the LLM moved to OpenAI — which, as a side effect, made it swappable.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ACT 3 · WHAT I LEARNED · 1:00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28 / 29</a:t>
            </a:r>
            <a:endParaRPr lang="en-US" sz="800" dirty="0"/>
          </a:p>
        </p:txBody>
      </p:sp>
      <p:sp>
        <p:nvSpPr>
          <p:cNvPr id="5" name="Text 2"/>
          <p:cNvSpPr txBox="1"/>
          <p:nvPr/>
        </p:nvSpPr>
        <p:spPr>
          <a:xfrm>
            <a:off x="457200" y="329184"/>
            <a:ext cx="8229600" cy="228600"/>
          </a:xfrm>
          <a:prstGeom prst="rect">
            <a:avLst/>
          </a:prstGeom>
          <a:noFill/>
          <a:ln/>
        </p:spPr>
        <p:txBody>
          <a:bodyPr wrap="square" lIns="0" tIns="0" rIns="0" bIns="0" rtlCol="0" anchor="ctr"/>
          <a:lstStyle/>
          <a:p>
            <a:pPr indent="0" marL="0">
              <a:buNone/>
            </a:pPr>
            <a:r>
              <a:rPr lang="en-US" sz="900" spc="200" kern="0" dirty="0">
                <a:solidFill>
                  <a:srgbClr val="F2B33D"/>
                </a:solidFill>
                <a:latin typeface="Courier New" pitchFamily="34" charset="0"/>
                <a:ea typeface="Courier New" pitchFamily="34" charset="-122"/>
                <a:cs typeface="Courier New" pitchFamily="34" charset="-120"/>
              </a:rPr>
              <a:t>NEXT</a:t>
            </a:r>
            <a:endParaRPr lang="en-US" sz="900" dirty="0"/>
          </a:p>
        </p:txBody>
      </p:sp>
      <p:sp>
        <p:nvSpPr>
          <p:cNvPr id="6" name="Text 3"/>
          <p:cNvSpPr txBox="1"/>
          <p:nvPr/>
        </p:nvSpPr>
        <p:spPr>
          <a:xfrm>
            <a:off x="457200" y="548640"/>
            <a:ext cx="8229600" cy="731520"/>
          </a:xfrm>
          <a:prstGeom prst="rect">
            <a:avLst/>
          </a:prstGeom>
          <a:noFill/>
          <a:ln/>
        </p:spPr>
        <p:txBody>
          <a:bodyPr wrap="square" lIns="0" tIns="0" rIns="0" bIns="0" rtlCol="0" anchor="t"/>
          <a:lstStyle/>
          <a:p>
            <a:pPr indent="0" marL="0">
              <a:buNone/>
            </a:pPr>
            <a:r>
              <a:rPr lang="en-US" sz="3400" b="1" dirty="0">
                <a:solidFill>
                  <a:srgbClr val="EEF3EE"/>
                </a:solidFill>
                <a:latin typeface="Barlow Condensed" pitchFamily="34" charset="0"/>
                <a:ea typeface="Barlow Condensed" pitchFamily="34" charset="-122"/>
                <a:cs typeface="Barlow Condensed" pitchFamily="34" charset="-120"/>
              </a:rPr>
              <a:t>WHAT I WOULD DO NEXT</a:t>
            </a:r>
            <a:endParaRPr lang="en-US" sz="3400" dirty="0"/>
          </a:p>
        </p:txBody>
      </p:sp>
      <p:sp>
        <p:nvSpPr>
          <p:cNvPr id="7" name="Shape 4"/>
          <p:cNvSpPr/>
          <p:nvPr/>
        </p:nvSpPr>
        <p:spPr>
          <a:xfrm>
            <a:off x="457200" y="1371600"/>
            <a:ext cx="4023360" cy="3246120"/>
          </a:xfrm>
          <a:prstGeom prst="roundRect">
            <a:avLst>
              <a:gd name="adj" fmla="val 1690"/>
            </a:avLst>
          </a:prstGeom>
          <a:solidFill>
            <a:srgbClr val="16241F"/>
          </a:solidFill>
          <a:ln w="9525">
            <a:solidFill>
              <a:srgbClr val="2A3D34"/>
            </a:solidFill>
            <a:prstDash val="solid"/>
          </a:ln>
        </p:spPr>
      </p:sp>
      <p:sp>
        <p:nvSpPr>
          <p:cNvPr id="8" name="Text 5"/>
          <p:cNvSpPr txBox="1"/>
          <p:nvPr/>
        </p:nvSpPr>
        <p:spPr>
          <a:xfrm>
            <a:off x="64008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KNOWN GAPS, DELIBERATELY RECORDED</a:t>
            </a:r>
            <a:endParaRPr lang="en-US" sz="1400" dirty="0"/>
          </a:p>
        </p:txBody>
      </p:sp>
      <p:sp>
        <p:nvSpPr>
          <p:cNvPr id="9" name="Text 6"/>
          <p:cNvSpPr txBox="1"/>
          <p:nvPr/>
        </p:nvSpPr>
        <p:spPr>
          <a:xfrm>
            <a:off x="640080" y="1783080"/>
            <a:ext cx="3657600" cy="2743200"/>
          </a:xfrm>
          <a:prstGeom prst="rect">
            <a:avLst/>
          </a:prstGeom>
          <a:noFill/>
          <a:ln/>
        </p:spPr>
        <p:txBody>
          <a:bodyPr wrap="square" lIns="254" tIns="254" rIns="254" bIns="254" rtlCol="0" anchor="t"/>
          <a:lstStyle/>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The 0.00-odds parser defect still reaches the arbitrage engine upstream — a false-negative source. Fix belongs in the markets repo beside the other four.</a:t>
            </a:r>
            <a:endParaRPr lang="en-US" sz="1000" dirty="0"/>
          </a:p>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msport's parser likely shares sportybet's suspended-market bug; unchecked.</a:t>
            </a:r>
            <a:endParaRPr lang="en-US" sz="1000" dirty="0"/>
          </a:p>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Bookmaker names are shown; a repo-wide scrub was built, reverted on request, and documented for re-use.</a:t>
            </a:r>
            <a:endParaRPr lang="en-US" sz="1000" dirty="0"/>
          </a:p>
        </p:txBody>
      </p:sp>
      <p:sp>
        <p:nvSpPr>
          <p:cNvPr id="10" name="Shape 7"/>
          <p:cNvSpPr/>
          <p:nvPr/>
        </p:nvSpPr>
        <p:spPr>
          <a:xfrm>
            <a:off x="4663440" y="1371600"/>
            <a:ext cx="4023360" cy="3246120"/>
          </a:xfrm>
          <a:prstGeom prst="roundRect">
            <a:avLst>
              <a:gd name="adj" fmla="val 1690"/>
            </a:avLst>
          </a:prstGeom>
          <a:solidFill>
            <a:srgbClr val="16241F"/>
          </a:solidFill>
          <a:ln w="9525">
            <a:solidFill>
              <a:srgbClr val="2A3D34"/>
            </a:solidFill>
            <a:prstDash val="solid"/>
          </a:ln>
        </p:spPr>
      </p:sp>
      <p:sp>
        <p:nvSpPr>
          <p:cNvPr id="11" name="Text 8"/>
          <p:cNvSpPr txBox="1"/>
          <p:nvPr/>
        </p:nvSpPr>
        <p:spPr>
          <a:xfrm>
            <a:off x="4846320" y="1481328"/>
            <a:ext cx="3657600" cy="237744"/>
          </a:xfrm>
          <a:prstGeom prst="rect">
            <a:avLst/>
          </a:prstGeom>
          <a:noFill/>
          <a:ln/>
        </p:spPr>
        <p:txBody>
          <a:bodyPr wrap="square" lIns="0" tIns="0" rIns="0" bIns="0" rtlCol="0" anchor="ctr"/>
          <a:lstStyle/>
          <a:p>
            <a:pPr indent="0" marL="0">
              <a:buNone/>
            </a:pPr>
            <a:r>
              <a:rPr lang="en-US" sz="1400" b="1" spc="100" kern="0" dirty="0">
                <a:solidFill>
                  <a:srgbClr val="EEF3EE"/>
                </a:solidFill>
                <a:latin typeface="Barlow Condensed" pitchFamily="34" charset="0"/>
                <a:ea typeface="Barlow Condensed" pitchFamily="34" charset="-122"/>
                <a:cs typeface="Barlow Condensed" pitchFamily="34" charset="-120"/>
              </a:rPr>
              <a:t>ROADMAP</a:t>
            </a:r>
            <a:endParaRPr lang="en-US" sz="1400" dirty="0"/>
          </a:p>
        </p:txBody>
      </p:sp>
      <p:sp>
        <p:nvSpPr>
          <p:cNvPr id="12" name="Text 9"/>
          <p:cNvSpPr txBox="1"/>
          <p:nvPr/>
        </p:nvSpPr>
        <p:spPr>
          <a:xfrm>
            <a:off x="4846320" y="1783080"/>
            <a:ext cx="3657600" cy="2743200"/>
          </a:xfrm>
          <a:prstGeom prst="rect">
            <a:avLst/>
          </a:prstGeom>
          <a:noFill/>
          <a:ln/>
        </p:spPr>
        <p:txBody>
          <a:bodyPr wrap="square" lIns="254" tIns="254" rIns="254" bIns="254" rtlCol="0" anchor="t"/>
          <a:lstStyle/>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Postgres LISTEN/NOTIFY to make the watcher event-driven instead of 20-second polling.</a:t>
            </a:r>
            <a:endParaRPr lang="en-US" sz="1000" dirty="0"/>
          </a:p>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Arbitrage-over-time: the as-of join that shows the line crossing 1.0.</a:t>
            </a:r>
            <a:endParaRPr lang="en-US" sz="1000" dirty="0"/>
          </a:p>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Events, lineups and players from API-Football into the same medallion.</a:t>
            </a:r>
            <a:endParaRPr lang="en-US" sz="1000" dirty="0"/>
          </a:p>
          <a:p>
            <a:pPr marL="342900" indent="-342900">
              <a:spcAft>
                <a:spcPts val="400"/>
              </a:spcAft>
              <a:buSzPct val="100000"/>
              <a:buChar char="•"/>
            </a:pPr>
            <a:r>
              <a:rPr lang="en-US" sz="1000" dirty="0">
                <a:solidFill>
                  <a:srgbClr val="EEF3EE"/>
                </a:solidFill>
                <a:latin typeface="Arial" pitchFamily="34" charset="0"/>
                <a:ea typeface="Arial" pitchFamily="34" charset="-122"/>
                <a:cs typeface="Arial" pitchFamily="34" charset="-120"/>
              </a:rPr>
              <a:t>AWS, IaC, Iceberg, Great Expectations — absent by decision, not omission.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6"/>
        </a:solidFill>
      </p:bgPr>
    </p:bg>
    <p:spTree>
      <p:nvGrpSpPr>
        <p:cNvPr id="1" name=""/>
        <p:cNvGrpSpPr/>
        <p:nvPr/>
      </p:nvGrpSpPr>
      <p:grpSpPr>
        <a:xfrm>
          <a:off x="0" y="0"/>
          <a:ext cx="0" cy="0"/>
          <a:chOff x="0" y="0"/>
          <a:chExt cx="0" cy="0"/>
        </a:xfrm>
      </p:grpSpPr>
      <p:sp>
        <p:nvSpPr>
          <p:cNvPr id="2" name="Text 0"/>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800" spc="200" kern="0" dirty="0">
                <a:solidFill>
                  <a:srgbClr val="6C8077"/>
                </a:solidFill>
                <a:latin typeface="Courier New" pitchFamily="34" charset="0"/>
                <a:ea typeface="Courier New" pitchFamily="34" charset="-122"/>
                <a:cs typeface="Courier New" pitchFamily="34" charset="-120"/>
              </a:rPr>
              <a:t>CLOSE · 0:30</a:t>
            </a:r>
            <a:endParaRPr lang="en-US" sz="800" dirty="0"/>
          </a:p>
        </p:txBody>
      </p:sp>
      <p:sp>
        <p:nvSpPr>
          <p:cNvPr id="3" name="Text 1"/>
          <p:cNvSpPr txBox="1"/>
          <p:nvPr/>
        </p:nvSpPr>
        <p:spPr>
          <a:xfrm>
            <a:off x="7772400" y="4773168"/>
            <a:ext cx="914400" cy="228600"/>
          </a:xfrm>
          <a:prstGeom prst="rect">
            <a:avLst/>
          </a:prstGeom>
          <a:noFill/>
          <a:ln/>
        </p:spPr>
        <p:txBody>
          <a:bodyPr wrap="square" lIns="0" tIns="0" rIns="0" bIns="0" rtlCol="0" anchor="ctr"/>
          <a:lstStyle/>
          <a:p>
            <a:pPr algn="r" indent="0" marL="0">
              <a:buNone/>
            </a:pPr>
            <a:r>
              <a:rPr lang="en-US" sz="800" dirty="0">
                <a:solidFill>
                  <a:srgbClr val="6C8077"/>
                </a:solidFill>
                <a:latin typeface="Courier New" pitchFamily="34" charset="0"/>
                <a:ea typeface="Courier New" pitchFamily="34" charset="-122"/>
                <a:cs typeface="Courier New" pitchFamily="34" charset="-120"/>
              </a:rPr>
              <a:t>29 / 29</a:t>
            </a:r>
            <a:endParaRPr lang="en-US" sz="800" dirty="0"/>
          </a:p>
        </p:txBody>
      </p:sp>
      <p:sp>
        <p:nvSpPr>
          <p:cNvPr id="5" name="Text 2"/>
          <p:cNvSpPr txBox="1"/>
          <p:nvPr/>
        </p:nvSpPr>
        <p:spPr>
          <a:xfrm>
            <a:off x="457200" y="1417320"/>
            <a:ext cx="7315200" cy="274320"/>
          </a:xfrm>
          <a:prstGeom prst="rect">
            <a:avLst/>
          </a:prstGeom>
          <a:noFill/>
          <a:ln/>
        </p:spPr>
        <p:txBody>
          <a:bodyPr wrap="square" lIns="0" tIns="0" rIns="0" bIns="0" rtlCol="0" anchor="ctr"/>
          <a:lstStyle/>
          <a:p>
            <a:pPr indent="0" marL="0">
              <a:buNone/>
            </a:pPr>
            <a:r>
              <a:rPr lang="en-US" sz="1100" spc="100" kern="0" dirty="0">
                <a:solidFill>
                  <a:srgbClr val="9DB0A6"/>
                </a:solidFill>
                <a:latin typeface="Courier New" pitchFamily="34" charset="0"/>
                <a:ea typeface="Courier New" pitchFamily="34" charset="-122"/>
                <a:cs typeface="Courier New" pitchFamily="34" charset="-120"/>
              </a:rPr>
              <a:t>Arbibet</a:t>
            </a:r>
            <a:endParaRPr lang="en-US" sz="1100" dirty="0"/>
          </a:p>
        </p:txBody>
      </p:sp>
      <p:sp>
        <p:nvSpPr>
          <p:cNvPr id="6" name="Text 3"/>
          <p:cNvSpPr txBox="1"/>
          <p:nvPr/>
        </p:nvSpPr>
        <p:spPr>
          <a:xfrm>
            <a:off x="457200" y="1737360"/>
            <a:ext cx="8229600" cy="1554480"/>
          </a:xfrm>
          <a:prstGeom prst="rect">
            <a:avLst/>
          </a:prstGeom>
          <a:noFill/>
          <a:ln/>
        </p:spPr>
        <p:txBody>
          <a:bodyPr wrap="square" lIns="0" tIns="0" rIns="0" bIns="0" rtlCol="0" anchor="t"/>
          <a:lstStyle/>
          <a:p>
            <a:pPr indent="0" marL="0">
              <a:buNone/>
            </a:pPr>
            <a:r>
              <a:rPr lang="en-US" sz="6000" b="1" dirty="0">
                <a:solidFill>
                  <a:srgbClr val="EEF3EE"/>
                </a:solidFill>
                <a:latin typeface="Barlow Condensed" pitchFamily="34" charset="0"/>
                <a:ea typeface="Barlow Condensed" pitchFamily="34" charset="-122"/>
                <a:cs typeface="Barlow Condensed" pitchFamily="34" charset="-120"/>
              </a:rPr>
              <a:t>ASK ME WHAT</a:t>
            </a:r>
            <a:endParaRPr lang="en-US" sz="6000" dirty="0"/>
          </a:p>
          <a:p>
            <a:pPr indent="0" marL="0">
              <a:buNone/>
            </a:pPr>
            <a:r>
              <a:rPr lang="en-US" sz="6000" b="1" dirty="0">
                <a:solidFill>
                  <a:srgbClr val="EEF3EE"/>
                </a:solidFill>
                <a:latin typeface="Barlow Condensed" pitchFamily="34" charset="0"/>
                <a:ea typeface="Barlow Condensed" pitchFamily="34" charset="-122"/>
                <a:cs typeface="Barlow Condensed" pitchFamily="34" charset="-120"/>
              </a:rPr>
              <a:t>WENT WRONG.</a:t>
            </a:r>
            <a:endParaRPr lang="en-US" sz="6000" dirty="0"/>
          </a:p>
        </p:txBody>
      </p:sp>
      <p:sp>
        <p:nvSpPr>
          <p:cNvPr id="7" name="Text 4"/>
          <p:cNvSpPr txBox="1"/>
          <p:nvPr/>
        </p:nvSpPr>
        <p:spPr>
          <a:xfrm>
            <a:off x="457200" y="3337560"/>
            <a:ext cx="5943600" cy="548640"/>
          </a:xfrm>
          <a:prstGeom prst="rect">
            <a:avLst/>
          </a:prstGeom>
          <a:noFill/>
          <a:ln/>
        </p:spPr>
        <p:txBody>
          <a:bodyPr wrap="square" lIns="0" tIns="0" rIns="0" bIns="0" rtlCol="0" anchor="t"/>
          <a:lstStyle/>
          <a:p>
            <a:pPr indent="0" marL="0">
              <a:buNone/>
            </a:pPr>
            <a:r>
              <a:rPr lang="en-US" sz="1400" dirty="0">
                <a:solidFill>
                  <a:srgbClr val="EEF3EE"/>
                </a:solidFill>
                <a:latin typeface="Arial" pitchFamily="34" charset="0"/>
                <a:ea typeface="Arial" pitchFamily="34" charset="-122"/>
                <a:cs typeface="Arial" pitchFamily="34" charset="-120"/>
              </a:rPr>
              <a:t>Every number in this deck is measured, and the ones that mean less than they look are labelled.</a:t>
            </a:r>
            <a:endParaRPr lang="en-US" sz="1400" dirty="0"/>
          </a:p>
        </p:txBody>
      </p:sp>
      <p:sp>
        <p:nvSpPr>
          <p:cNvPr id="8" name="Shape 5"/>
          <p:cNvSpPr/>
          <p:nvPr/>
        </p:nvSpPr>
        <p:spPr>
          <a:xfrm>
            <a:off x="457200" y="4114800"/>
            <a:ext cx="2377440" cy="329184"/>
          </a:xfrm>
          <a:prstGeom prst="roundRect">
            <a:avLst>
              <a:gd name="adj" fmla="val 11111"/>
            </a:avLst>
          </a:prstGeom>
          <a:solidFill>
            <a:srgbClr val="0E1A16"/>
          </a:solidFill>
          <a:ln w="12700">
            <a:solidFill>
              <a:srgbClr val="F2B33D"/>
            </a:solidFill>
            <a:prstDash val="dash"/>
          </a:ln>
        </p:spPr>
      </p:sp>
      <p:sp>
        <p:nvSpPr>
          <p:cNvPr id="9" name="Text 6"/>
          <p:cNvSpPr txBox="1"/>
          <p:nvPr/>
        </p:nvSpPr>
        <p:spPr>
          <a:xfrm>
            <a:off x="548640" y="4114800"/>
            <a:ext cx="2194560" cy="329184"/>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[DASHBOARD URL]</a:t>
            </a:r>
            <a:endParaRPr lang="en-US" sz="850" dirty="0"/>
          </a:p>
        </p:txBody>
      </p:sp>
      <p:sp>
        <p:nvSpPr>
          <p:cNvPr id="10" name="Shape 7"/>
          <p:cNvSpPr/>
          <p:nvPr/>
        </p:nvSpPr>
        <p:spPr>
          <a:xfrm>
            <a:off x="2971800" y="4114800"/>
            <a:ext cx="2011680" cy="329184"/>
          </a:xfrm>
          <a:prstGeom prst="roundRect">
            <a:avLst>
              <a:gd name="adj" fmla="val 11111"/>
            </a:avLst>
          </a:prstGeom>
          <a:solidFill>
            <a:srgbClr val="0E1A16"/>
          </a:solidFill>
          <a:ln w="12700">
            <a:solidFill>
              <a:srgbClr val="F2B33D"/>
            </a:solidFill>
            <a:prstDash val="dash"/>
          </a:ln>
        </p:spPr>
      </p:sp>
      <p:sp>
        <p:nvSpPr>
          <p:cNvPr id="11" name="Text 8"/>
          <p:cNvSpPr txBox="1"/>
          <p:nvPr/>
        </p:nvSpPr>
        <p:spPr>
          <a:xfrm>
            <a:off x="3063240" y="4114800"/>
            <a:ext cx="1828800" cy="329184"/>
          </a:xfrm>
          <a:prstGeom prst="rect">
            <a:avLst/>
          </a:prstGeom>
          <a:noFill/>
          <a:ln/>
        </p:spPr>
        <p:txBody>
          <a:bodyPr wrap="square" lIns="0" tIns="0" rIns="0" bIns="0" rtlCol="0" anchor="ctr"/>
          <a:lstStyle/>
          <a:p>
            <a:pPr indent="0" marL="0">
              <a:buNone/>
            </a:pPr>
            <a:r>
              <a:rPr lang="en-US" sz="850" dirty="0">
                <a:solidFill>
                  <a:srgbClr val="F2B33D"/>
                </a:solidFill>
                <a:latin typeface="Courier New" pitchFamily="34" charset="0"/>
                <a:ea typeface="Courier New" pitchFamily="34" charset="-122"/>
                <a:cs typeface="Courier New" pitchFamily="34" charset="-120"/>
              </a:rPr>
              <a:t>[REPO URL]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Arbibet</dc:title>
  <dc:subject>PptxGenJS Presentation</dc:subject>
  <dc:creator>Arbibet capstone</dc:creator>
  <cp:lastModifiedBy>Arbibet capstone</cp:lastModifiedBy>
  <cp:revision>1</cp:revision>
  <dcterms:created xsi:type="dcterms:W3CDTF">2026-09-16T11:49:28Z</dcterms:created>
  <dcterms:modified xsi:type="dcterms:W3CDTF">2026-09-16T11:49:28Z</dcterms:modified>
</cp:coreProperties>
</file>